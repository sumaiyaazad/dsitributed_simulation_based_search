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y="5143500" cx="9144000"/>
  <p:notesSz cx="6858000" cy="9144000"/>
  <p:embeddedFontLst>
    <p:embeddedFont>
      <p:font typeface="Roboto Mono"/>
      <p:regular r:id="rId27"/>
      <p:bold r:id="rId28"/>
      <p:italic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5" name="Andrew Herbert"/>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commentAuthors" Target="commentAuthor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font" Target="fonts/RobotoMono-bold.fntdata"/><Relationship Id="rId27" Type="http://schemas.openxmlformats.org/officeDocument/2006/relationships/font" Target="fonts/RobotoMono-regular.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RobotoMono-italic.fntdata"/><Relationship Id="rId7" Type="http://schemas.openxmlformats.org/officeDocument/2006/relationships/slide" Target="slides/slide1.xml"/><Relationship Id="rId8" Type="http://schemas.openxmlformats.org/officeDocument/2006/relationships/slide" Target="slides/slide2.xml"/><Relationship Id="rId30" Type="http://schemas.openxmlformats.org/officeDocument/2006/relationships/font" Target="fonts/RobotoMono-bold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5-11-30T21:14:45.552">
    <p:pos x="196" y="725"/>
    <p:text>ANN: vectorizing attributes to select shards probabilistically
attributes: data such as hardware type or (in games) skill. clients/players can be grouped by similar attributes or with certain patterns of attributes</p:text>
  </p:cm>
  <p:cm authorId="0" idx="2" dt="2025-11-30T21:14:45.552">
    <p:pos x="196" y="725"/>
    <p:text>matchmaking: creating groups of players for an ideal game experience. The idea of matchmaking can extend to server farms/distributed workloads when machines have different specs. Our algorithm can describe a solution to matching up clients to other clients to satisfy requirements</p:tex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3" dt="2025-12-01T02:21:00.229">
    <p:pos x="491" y="1535"/>
    <p:text>Replace with waiting time (in queue) rather than playtime?</p:text>
  </p:cm>
  <p:cm authorId="0" idx="4" dt="2025-12-01T02:21:00.229">
    <p:pos x="491" y="1535"/>
    <p:text>Also, include (min/)max and average, in particular for wait time</p:text>
  </p:cm>
  <p:cm authorId="0" idx="5" dt="2025-12-01T02:20:04.237">
    <p:pos x="418" y="142"/>
    <p:text>Add a "lower/higher is better" to indicate what the intended target is</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ab5179dec7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ab5179dec7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ab5179dec7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ab5179dec7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Andy</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ab5179dec7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ab5179dec7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Presented by Shreeda Ghatpande</a:t>
            </a:r>
            <a:endParaRPr/>
          </a:p>
          <a:p>
            <a:pPr indent="0" lvl="0" marL="0" rtl="0" algn="l">
              <a:spcBef>
                <a:spcPts val="0"/>
              </a:spcBef>
              <a:spcAft>
                <a:spcPts val="0"/>
              </a:spcAft>
              <a:buNone/>
            </a:pPr>
            <a:r>
              <a:rPr lang="en"/>
              <a:t>ANN-based retrieval will outperform FIFO baselines by achieving lower match variance and faster match formation time, without compromising scalability.</a:t>
            </a:r>
            <a:br>
              <a:rPr lang="en"/>
            </a:br>
            <a:r>
              <a:rPr lang="en"/>
              <a:t>Fair i.e players of similar skill and rank</a:t>
            </a:r>
            <a:endParaRPr/>
          </a:p>
          <a:p>
            <a:pPr indent="-298450" lvl="0" marL="457200" rtl="0" algn="l">
              <a:spcBef>
                <a:spcPts val="0"/>
              </a:spcBef>
              <a:spcAft>
                <a:spcPts val="0"/>
              </a:spcAft>
              <a:buSzPts val="1100"/>
              <a:buChar char="●"/>
            </a:pPr>
            <a:r>
              <a:rPr lang="en"/>
              <a:t>Fast i.e  minimal wait time</a:t>
            </a:r>
            <a:endParaRPr/>
          </a:p>
          <a:p>
            <a:pPr indent="-298450" lvl="0" marL="457200" rtl="0" algn="l">
              <a:spcBef>
                <a:spcPts val="0"/>
              </a:spcBef>
              <a:spcAft>
                <a:spcPts val="0"/>
              </a:spcAft>
              <a:buSzPts val="1100"/>
              <a:buChar char="●"/>
            </a:pPr>
            <a:r>
              <a:rPr lang="en"/>
              <a:t>Stable i.e low latency, same region when possible</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ab5179dec7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ab5179dec7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Presented by Shreeda Ghatpande</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accb96e612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accb96e612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Presented by Shreeda Ghatpande</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ab5179dec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3ab5179dec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Presented by Sumaiya Azad</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9a2cf03b66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9a2cf03b66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Andy</a:t>
            </a:r>
            <a:endParaRPr/>
          </a:p>
          <a:p>
            <a:pPr indent="0" lvl="0" marL="0" rtl="0" algn="l">
              <a:spcBef>
                <a:spcPts val="0"/>
              </a:spcBef>
              <a:spcAft>
                <a:spcPts val="0"/>
              </a:spcAft>
              <a:buNone/>
            </a:pPr>
            <a:r>
              <a:t/>
            </a:r>
            <a:endParaRPr/>
          </a:p>
          <a:p>
            <a:pPr indent="-298450" lvl="0" marL="457200" rtl="0" algn="l">
              <a:spcBef>
                <a:spcPts val="0"/>
              </a:spcBef>
              <a:spcAft>
                <a:spcPts val="0"/>
              </a:spcAft>
              <a:buSzPts val="1100"/>
              <a:buChar char="●"/>
            </a:pPr>
            <a:r>
              <a:rPr lang="en"/>
              <a:t>Most existing algorithms for matchmaking focus on pairing players into matches- emphasis more on maximizing similar skill or other attributes, not so much minimizing wait times</a:t>
            </a:r>
            <a:endParaRPr/>
          </a:p>
          <a:p>
            <a:pPr indent="-298450" lvl="0" marL="457200" rtl="0" algn="l">
              <a:spcBef>
                <a:spcPts val="0"/>
              </a:spcBef>
              <a:spcAft>
                <a:spcPts val="0"/>
              </a:spcAft>
              <a:buSzPts val="1100"/>
              <a:buChar char="●"/>
            </a:pPr>
            <a:r>
              <a:rPr lang="en"/>
              <a:t>The challenge: fairness.</a:t>
            </a:r>
            <a:endParaRPr/>
          </a:p>
          <a:p>
            <a:pPr indent="-298450" lvl="1" marL="914400" rtl="0" algn="l">
              <a:spcBef>
                <a:spcPts val="0"/>
              </a:spcBef>
              <a:spcAft>
                <a:spcPts val="0"/>
              </a:spcAft>
              <a:buSzPts val="1100"/>
              <a:buChar char="○"/>
            </a:pPr>
            <a:r>
              <a:rPr lang="en"/>
              <a:t>Players most similar to other players waiting would be quick to match up</a:t>
            </a:r>
            <a:endParaRPr/>
          </a:p>
          <a:p>
            <a:pPr indent="-298450" lvl="1" marL="914400" rtl="0" algn="l">
              <a:spcBef>
                <a:spcPts val="0"/>
              </a:spcBef>
              <a:spcAft>
                <a:spcPts val="0"/>
              </a:spcAft>
              <a:buSzPts val="1100"/>
              <a:buChar char="○"/>
            </a:pPr>
            <a:r>
              <a:rPr lang="en"/>
              <a:t>Players who are outliers to other players waiting will wait a long time to match up</a:t>
            </a:r>
            <a:endParaRPr/>
          </a:p>
          <a:p>
            <a:pPr indent="-298450" lvl="0" marL="457200" rtl="0" algn="l">
              <a:spcBef>
                <a:spcPts val="0"/>
              </a:spcBef>
              <a:spcAft>
                <a:spcPts val="0"/>
              </a:spcAft>
              <a:buSzPts val="1100"/>
              <a:buChar char="●"/>
            </a:pPr>
            <a:r>
              <a:rPr lang="en"/>
              <a:t>MatchTree: a compromise</a:t>
            </a:r>
            <a:endParaRPr/>
          </a:p>
          <a:p>
            <a:pPr indent="-298450" lvl="1" marL="914400" rtl="0" algn="l">
              <a:spcBef>
                <a:spcPts val="0"/>
              </a:spcBef>
              <a:spcAft>
                <a:spcPts val="0"/>
              </a:spcAft>
              <a:buSzPts val="1100"/>
              <a:buChar char="○"/>
            </a:pPr>
            <a:r>
              <a:rPr lang="en"/>
              <a:t>Try to make a match with the best rules dictating a valid match. If that fails after a while, use the second best rules</a:t>
            </a:r>
            <a:endParaRPr/>
          </a:p>
          <a:p>
            <a:pPr indent="-298450" lvl="2" marL="1371600" rtl="0" algn="l">
              <a:spcBef>
                <a:spcPts val="0"/>
              </a:spcBef>
              <a:spcAft>
                <a:spcPts val="0"/>
              </a:spcAft>
              <a:buSzPts val="1100"/>
              <a:buChar char="■"/>
            </a:pPr>
            <a:r>
              <a:rPr lang="en"/>
              <a:t>All the way down to baseline- any matchup allowed</a:t>
            </a:r>
            <a:endParaRPr/>
          </a:p>
          <a:p>
            <a:pPr indent="-298450" lvl="0" marL="457200" rtl="0" algn="l">
              <a:spcBef>
                <a:spcPts val="0"/>
              </a:spcBef>
              <a:spcAft>
                <a:spcPts val="0"/>
              </a:spcAft>
              <a:buSzPts val="1100"/>
              <a:buChar char="●"/>
            </a:pPr>
            <a:r>
              <a:rPr lang="en"/>
              <a:t>Priority selection: given all matchups available, select the best, and assign to each player in the match</a:t>
            </a:r>
            <a:endParaRPr/>
          </a:p>
          <a:p>
            <a:pPr indent="-298450" lvl="1" marL="914400" rtl="0" algn="l">
              <a:spcBef>
                <a:spcPts val="0"/>
              </a:spcBef>
              <a:spcAft>
                <a:spcPts val="0"/>
              </a:spcAft>
              <a:buSzPts val="1100"/>
              <a:buChar char="○"/>
            </a:pPr>
            <a:r>
              <a:rPr lang="en"/>
              <a:t>Starting with oldest player, best ruleset</a:t>
            </a:r>
            <a:endParaRPr/>
          </a:p>
          <a:p>
            <a:pPr indent="-298450" lvl="1" marL="914400" rtl="0" algn="l">
              <a:spcBef>
                <a:spcPts val="0"/>
              </a:spcBef>
              <a:spcAft>
                <a:spcPts val="0"/>
              </a:spcAft>
              <a:buSzPts val="1100"/>
              <a:buChar char="○"/>
            </a:pPr>
            <a:r>
              <a:rPr lang="en"/>
              <a:t>Discards matches where at least one player already placed into match</a:t>
            </a:r>
            <a:endParaRPr/>
          </a:p>
          <a:p>
            <a:pPr indent="-298450" lvl="0" marL="457200" rtl="0" algn="l">
              <a:spcBef>
                <a:spcPts val="0"/>
              </a:spcBef>
              <a:spcAft>
                <a:spcPts val="0"/>
              </a:spcAft>
              <a:buSzPts val="1100"/>
              <a:buChar char="●"/>
            </a:pPr>
            <a:r>
              <a:rPr lang="en"/>
              <a:t>Pros</a:t>
            </a:r>
            <a:endParaRPr/>
          </a:p>
          <a:p>
            <a:pPr indent="-298450" lvl="1" marL="914400" rtl="0" algn="l">
              <a:spcBef>
                <a:spcPts val="0"/>
              </a:spcBef>
              <a:spcAft>
                <a:spcPts val="0"/>
              </a:spcAft>
              <a:buSzPts val="1100"/>
              <a:buChar char="○"/>
            </a:pPr>
            <a:r>
              <a:rPr lang="en"/>
              <a:t>Fast runtime </a:t>
            </a:r>
            <a:r>
              <a:rPr lang="en">
                <a:solidFill>
                  <a:schemeClr val="dk1"/>
                </a:solidFill>
              </a:rPr>
              <a:t>(k=num players, N=link depth, T=num trees, d=match search depth, L=max potential matchups to return)</a:t>
            </a:r>
            <a:endParaRPr>
              <a:solidFill>
                <a:schemeClr val="dk1"/>
              </a:solidFill>
            </a:endParaRPr>
          </a:p>
          <a:p>
            <a:pPr indent="-298450" lvl="2" marL="1371600" rtl="0" algn="l">
              <a:spcBef>
                <a:spcPts val="0"/>
              </a:spcBef>
              <a:spcAft>
                <a:spcPts val="0"/>
              </a:spcAft>
              <a:buClr>
                <a:schemeClr val="dk1"/>
              </a:buClr>
              <a:buSzPts val="1100"/>
              <a:buChar char="■"/>
            </a:pPr>
            <a:r>
              <a:rPr lang="en">
                <a:solidFill>
                  <a:schemeClr val="dk1"/>
                </a:solidFill>
              </a:rPr>
              <a:t>N, d, L constants</a:t>
            </a:r>
            <a:endParaRPr>
              <a:solidFill>
                <a:schemeClr val="dk1"/>
              </a:solidFill>
            </a:endParaRPr>
          </a:p>
          <a:p>
            <a:pPr indent="-298450" lvl="2" marL="1371600" rtl="0" algn="l">
              <a:spcBef>
                <a:spcPts val="0"/>
              </a:spcBef>
              <a:spcAft>
                <a:spcPts val="0"/>
              </a:spcAft>
              <a:buSzPts val="1100"/>
              <a:buChar char="■"/>
            </a:pPr>
            <a:r>
              <a:rPr lang="en"/>
              <a:t>O(k*N) tree creation</a:t>
            </a:r>
            <a:endParaRPr/>
          </a:p>
          <a:p>
            <a:pPr indent="-298450" lvl="2" marL="1371600" rtl="0" algn="l">
              <a:spcBef>
                <a:spcPts val="0"/>
              </a:spcBef>
              <a:spcAft>
                <a:spcPts val="0"/>
              </a:spcAft>
              <a:buSzPts val="1100"/>
              <a:buChar char="■"/>
            </a:pPr>
            <a:r>
              <a:rPr lang="en"/>
              <a:t>O(N) tree update </a:t>
            </a:r>
            <a:endParaRPr/>
          </a:p>
          <a:p>
            <a:pPr indent="-298450" lvl="2" marL="1371600" rtl="0" algn="l">
              <a:spcBef>
                <a:spcPts val="0"/>
              </a:spcBef>
              <a:spcAft>
                <a:spcPts val="0"/>
              </a:spcAft>
              <a:buSzPts val="1100"/>
              <a:buChar char="■"/>
            </a:pPr>
            <a:r>
              <a:rPr lang="en"/>
              <a:t>O(k*d*L) best case match search, O(k*d*N) worst case match search</a:t>
            </a:r>
            <a:endParaRPr/>
          </a:p>
          <a:p>
            <a:pPr indent="-298450" lvl="3" marL="1828800" rtl="0" algn="l">
              <a:spcBef>
                <a:spcPts val="0"/>
              </a:spcBef>
              <a:spcAft>
                <a:spcPts val="0"/>
              </a:spcAft>
              <a:buSzPts val="1100"/>
              <a:buChar char="●"/>
            </a:pPr>
            <a:r>
              <a:rPr lang="en"/>
              <a:t>Might be some log based runtime with search</a:t>
            </a:r>
            <a:endParaRPr/>
          </a:p>
          <a:p>
            <a:pPr indent="-298450" lvl="2" marL="1371600" rtl="0" algn="l">
              <a:spcBef>
                <a:spcPts val="0"/>
              </a:spcBef>
              <a:spcAft>
                <a:spcPts val="0"/>
              </a:spcAft>
              <a:buSzPts val="1100"/>
              <a:buChar char="■"/>
            </a:pPr>
            <a:r>
              <a:rPr lang="en"/>
              <a:t>Additional caching reduces repeat searches</a:t>
            </a:r>
            <a:endParaRPr/>
          </a:p>
          <a:p>
            <a:pPr indent="-298450" lvl="1" marL="914400" rtl="0" algn="l">
              <a:spcBef>
                <a:spcPts val="0"/>
              </a:spcBef>
              <a:spcAft>
                <a:spcPts val="0"/>
              </a:spcAft>
              <a:buSzPts val="1100"/>
              <a:buChar char="○"/>
            </a:pPr>
            <a:r>
              <a:rPr lang="en"/>
              <a:t>Should make roughly good matches for all players</a:t>
            </a:r>
            <a:endParaRPr/>
          </a:p>
          <a:p>
            <a:pPr indent="-298450" lvl="1" marL="914400" rtl="0" algn="l">
              <a:spcBef>
                <a:spcPts val="0"/>
              </a:spcBef>
              <a:spcAft>
                <a:spcPts val="0"/>
              </a:spcAft>
              <a:buSzPts val="1100"/>
              <a:buChar char="○"/>
            </a:pPr>
            <a:r>
              <a:rPr lang="en"/>
              <a:t>Multithread capable searching (+ potential distributed systems search)</a:t>
            </a:r>
            <a:endParaRPr/>
          </a:p>
          <a:p>
            <a:pPr indent="-298450" lvl="1" marL="914400" rtl="0" algn="l">
              <a:spcBef>
                <a:spcPts val="0"/>
              </a:spcBef>
              <a:spcAft>
                <a:spcPts val="0"/>
              </a:spcAft>
              <a:buSzPts val="1100"/>
              <a:buChar char="○"/>
            </a:pPr>
            <a:r>
              <a:rPr lang="en"/>
              <a:t>Scalable to thousands of players</a:t>
            </a:r>
            <a:endParaRPr/>
          </a:p>
          <a:p>
            <a:pPr indent="-298450" lvl="1" marL="914400" rtl="0" algn="l">
              <a:spcBef>
                <a:spcPts val="0"/>
              </a:spcBef>
              <a:spcAft>
                <a:spcPts val="0"/>
              </a:spcAft>
              <a:buSzPts val="1100"/>
              <a:buChar char="○"/>
            </a:pPr>
            <a:r>
              <a:rPr lang="en"/>
              <a:t>Supports different formulas for matchmaking (elo, trueskill, etc)</a:t>
            </a:r>
            <a:endParaRPr/>
          </a:p>
          <a:p>
            <a:pPr indent="-298450" lvl="0" marL="457200" rtl="0" algn="l">
              <a:spcBef>
                <a:spcPts val="0"/>
              </a:spcBef>
              <a:spcAft>
                <a:spcPts val="0"/>
              </a:spcAft>
              <a:buSzPts val="1100"/>
              <a:buChar char="●"/>
            </a:pPr>
            <a:r>
              <a:rPr lang="en"/>
              <a:t>Cons</a:t>
            </a:r>
            <a:endParaRPr/>
          </a:p>
          <a:p>
            <a:pPr indent="-298450" lvl="1" marL="914400" rtl="0" algn="l">
              <a:spcBef>
                <a:spcPts val="0"/>
              </a:spcBef>
              <a:spcAft>
                <a:spcPts val="0"/>
              </a:spcAft>
              <a:buSzPts val="1100"/>
              <a:buChar char="○"/>
            </a:pPr>
            <a:r>
              <a:rPr lang="en"/>
              <a:t>Player removal can create inconsistency with trees</a:t>
            </a:r>
            <a:endParaRPr/>
          </a:p>
          <a:p>
            <a:pPr indent="-298450" lvl="2" marL="1371600" rtl="0" algn="l">
              <a:spcBef>
                <a:spcPts val="0"/>
              </a:spcBef>
              <a:spcAft>
                <a:spcPts val="0"/>
              </a:spcAft>
              <a:buSzPts val="1100"/>
              <a:buChar char="■"/>
            </a:pPr>
            <a:r>
              <a:rPr lang="en"/>
              <a:t>Solution: occasionally reconstruct entire tree</a:t>
            </a:r>
            <a:endParaRPr/>
          </a:p>
          <a:p>
            <a:pPr indent="-298450" lvl="1" marL="914400" rtl="0" algn="l">
              <a:spcBef>
                <a:spcPts val="0"/>
              </a:spcBef>
              <a:spcAft>
                <a:spcPts val="0"/>
              </a:spcAft>
              <a:buSzPts val="1100"/>
              <a:buChar char="○"/>
            </a:pPr>
            <a:r>
              <a:rPr lang="en"/>
              <a:t>p</a:t>
            </a:r>
            <a:r>
              <a:rPr lang="en"/>
              <a:t>runing </a:t>
            </a:r>
            <a:endParaRPr/>
          </a:p>
          <a:p>
            <a:pPr indent="-298450" lvl="2" marL="1371600" rtl="0" algn="l">
              <a:spcBef>
                <a:spcPts val="0"/>
              </a:spcBef>
              <a:spcAft>
                <a:spcPts val="0"/>
              </a:spcAft>
              <a:buSzPts val="1100"/>
              <a:buChar char="■"/>
            </a:pPr>
            <a:r>
              <a:rPr lang="en"/>
              <a:t>Too high N, L can slow algo</a:t>
            </a:r>
            <a:endParaRPr/>
          </a:p>
          <a:p>
            <a:pPr indent="-298450" lvl="2" marL="1371600" rtl="0" algn="l">
              <a:spcBef>
                <a:spcPts val="0"/>
              </a:spcBef>
              <a:spcAft>
                <a:spcPts val="0"/>
              </a:spcAft>
              <a:buSzPts val="1100"/>
              <a:buChar char="■"/>
            </a:pPr>
            <a:r>
              <a:rPr lang="en"/>
              <a:t>Too low N reduces matchups returned</a:t>
            </a:r>
            <a:endParaRPr/>
          </a:p>
          <a:p>
            <a:pPr indent="-298450" lvl="1" marL="914400" rtl="0" algn="l">
              <a:spcBef>
                <a:spcPts val="0"/>
              </a:spcBef>
              <a:spcAft>
                <a:spcPts val="0"/>
              </a:spcAft>
              <a:buSzPts val="1100"/>
              <a:buChar char="○"/>
            </a:pPr>
            <a:r>
              <a:rPr lang="en"/>
              <a:t>Priority search less optimized</a:t>
            </a:r>
            <a:endParaRPr/>
          </a:p>
          <a:p>
            <a:pPr indent="-298450" lvl="1" marL="914400" rtl="0" algn="l">
              <a:spcBef>
                <a:spcPts val="0"/>
              </a:spcBef>
              <a:spcAft>
                <a:spcPts val="0"/>
              </a:spcAft>
              <a:buSzPts val="1100"/>
              <a:buChar char="○"/>
            </a:pPr>
            <a:r>
              <a:rPr lang="en"/>
              <a:t>Rulset implementation dependent on developer, could be made inefficient</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ab780e8ec4_4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ab780e8ec4_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Presented by Sumaiya Azad</a:t>
            </a:r>
            <a:endParaRPr/>
          </a:p>
          <a:p>
            <a:pPr indent="0" lvl="0" marL="0" rtl="0" algn="l">
              <a:lnSpc>
                <a:spcPct val="115000"/>
              </a:lnSpc>
              <a:spcBef>
                <a:spcPts val="1200"/>
              </a:spcBef>
              <a:spcAft>
                <a:spcPts val="0"/>
              </a:spcAft>
              <a:buNone/>
            </a:pPr>
            <a:r>
              <a:rPr lang="en">
                <a:solidFill>
                  <a:schemeClr val="dk1"/>
                </a:solidFill>
              </a:rPr>
              <a:t>For our project, we first needed a realistic player population. So we generated players with different gaming attributes to simulate something close to a real matchmaking environment. That means players should differ in skill, latency, region, rank, and playtime — just like in real online games.For skill level, we used a Chi distribution. That naturally gives us many average players and only a few really high-skill players, which feels realistic. Latency is also drawn from a Chi distribution, so most players have low ping but some have very high ping values. High latency means poor gameplay. Every player is assigned a region — NA, EU, AS, SA, AF, or OC — to represent geographical servers. Cross region matches increase delay or latency. Rank is determined directly from the skill level, following a Bronze → Grandmaster scale. Finally, playtime hours follow a normal distribution. This simulates that some players play a lot and some very little. These attributes help us build a diverse and realistic dataset for matchmaking benchmarking.</a:t>
            </a:r>
            <a:endParaRPr>
              <a:solidFill>
                <a:schemeClr val="dk1"/>
              </a:solidFill>
            </a:endParaRPr>
          </a:p>
          <a:p>
            <a:pPr indent="0" lvl="0" marL="0" rtl="0" algn="l">
              <a:spcBef>
                <a:spcPts val="120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ab780e8ec4_4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ab780e8ec4_4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Presented by Sumaiya Azad</a:t>
            </a:r>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To use FAISS, each player must be converted to a numeric vector. For the unweighted encoding, we treat all attributes equally.</a:t>
            </a:r>
            <a:br>
              <a:rPr lang="en">
                <a:solidFill>
                  <a:schemeClr val="dk1"/>
                </a:solidFill>
              </a:rPr>
            </a:br>
            <a:r>
              <a:rPr lang="en">
                <a:solidFill>
                  <a:schemeClr val="dk1"/>
                </a:solidFill>
              </a:rPr>
              <a:t>But to improve matchmaking quality, we created a weighted encoding. In the weighted version, more important attributes — like rank and skill — get higher weights. Less important ones — like region — get smaller weights. This lets FAISS prioritise similarity in rank and skill more strongly, which leads to better groupings.</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ab780e8ec4_4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ab780e8ec4_4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Presented by Sumaiya Azad</a:t>
            </a:r>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Next, we needed a way to simulate a busy server where players continuously request matches. </a:t>
            </a:r>
            <a:r>
              <a:rPr lang="en">
                <a:solidFill>
                  <a:schemeClr val="dk1"/>
                </a:solidFill>
              </a:rPr>
              <a:t>Workload generation concept is basically who is entering the queue. </a:t>
            </a:r>
            <a:r>
              <a:rPr lang="en">
                <a:solidFill>
                  <a:schemeClr val="dk1"/>
                </a:solidFill>
              </a:rPr>
              <a:t>Our workload generator picks players in a probabilistic way. Players with more playtime have a higher chance of appearing — because active players queue more often in real life. We control this with a parameter called </a:t>
            </a:r>
            <a:r>
              <a:rPr i="1" lang="en">
                <a:solidFill>
                  <a:schemeClr val="dk1"/>
                </a:solidFill>
              </a:rPr>
              <a:t>hot_player_bias</a:t>
            </a:r>
            <a:r>
              <a:rPr lang="en">
                <a:solidFill>
                  <a:schemeClr val="dk1"/>
                </a:solidFill>
              </a:rPr>
              <a:t>. We use 1.5, which means heavy players appear significantly more often. This creates a workload of 100,000 player IDs that we feed into the matchmaking algorithms. Overall, this workload behaves like a real server where some players constantly re-queue while others appear rarely based on their playtime hour</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ab780e8ec4_4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3ab780e8ec4_4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Presented by Sumaiya Azad</a:t>
            </a:r>
            <a:endParaRPr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Players arrive in order and we simply pick the first 10 available players to form a match.It’s fast, but the match quality is very low because it ignores skill, rank, and latency completely.Arrival order is the only thing that matters.</a:t>
            </a:r>
            <a:endParaRPr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Next, we use FAISS on the raw, unweighted vectors. It searches for the closest neighbors for each request. This produces better matches than FIFO because FAISS uses player attributes, but all attributes are treated equally.</a:t>
            </a:r>
            <a:endParaRPr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Finally, we use Weighted FAISS, which is our improved version.By applying weights, we make FAISS prioritize similar skill, similar rank, and similar latency.</a:t>
            </a:r>
            <a:br>
              <a:rPr lang="en">
                <a:solidFill>
                  <a:schemeClr val="dk1"/>
                </a:solidFill>
              </a:rPr>
            </a:br>
            <a:r>
              <a:rPr lang="en">
                <a:solidFill>
                  <a:schemeClr val="dk1"/>
                </a:solidFill>
              </a:rPr>
              <a:t> This simulates a smarter matchmaking coordinator. Weighted FAISS produces the best overall match quality among the three.</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ab86653933_1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3ab86653933_1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Presented by Fariba Amiri</a:t>
            </a:r>
            <a:br>
              <a:rPr lang="en"/>
            </a:br>
            <a:r>
              <a:rPr lang="en">
                <a:solidFill>
                  <a:schemeClr val="dk1"/>
                </a:solidFill>
              </a:rPr>
              <a:t>Each shard represents </a:t>
            </a:r>
            <a:r>
              <a:rPr b="1" lang="en">
                <a:solidFill>
                  <a:schemeClr val="dk1"/>
                </a:solidFill>
              </a:rPr>
              <a:t>one geographic region</a:t>
            </a:r>
            <a:r>
              <a:rPr lang="en">
                <a:solidFill>
                  <a:schemeClr val="dk1"/>
                </a:solidFill>
              </a:rPr>
              <a:t>, like NA or EU.</a:t>
            </a:r>
            <a:br>
              <a:rPr lang="en">
                <a:solidFill>
                  <a:schemeClr val="dk1"/>
                </a:solidFill>
              </a:rPr>
            </a:br>
            <a:r>
              <a:rPr lang="en">
                <a:solidFill>
                  <a:schemeClr val="dk1"/>
                </a:solidFill>
              </a:rPr>
              <a:t>Each</a:t>
            </a:r>
            <a:r>
              <a:rPr lang="en">
                <a:solidFill>
                  <a:schemeClr val="dk1"/>
                </a:solidFill>
              </a:rPr>
              <a:t> </a:t>
            </a:r>
            <a:r>
              <a:rPr b="1" lang="en">
                <a:solidFill>
                  <a:schemeClr val="dk1"/>
                </a:solidFill>
              </a:rPr>
              <a:t>shard</a:t>
            </a:r>
            <a:r>
              <a:rPr b="1" lang="en">
                <a:solidFill>
                  <a:schemeClr val="dk1"/>
                </a:solidFill>
              </a:rPr>
              <a:t> loads all players for that region from the CSV</a:t>
            </a:r>
            <a:r>
              <a:rPr lang="en">
                <a:solidFill>
                  <a:schemeClr val="dk1"/>
                </a:solidFill>
              </a:rPr>
              <a:t> and </a:t>
            </a:r>
            <a:r>
              <a:rPr b="1" lang="en">
                <a:solidFill>
                  <a:schemeClr val="dk1"/>
                </a:solidFill>
              </a:rPr>
              <a:t>uses them to build a FAISS similarity index</a:t>
            </a:r>
            <a:r>
              <a:rPr lang="en">
                <a:solidFill>
                  <a:schemeClr val="dk1"/>
                </a:solidFill>
              </a:rPr>
              <a:t>.</a:t>
            </a:r>
            <a:br>
              <a:rPr lang="en">
                <a:solidFill>
                  <a:schemeClr val="dk1"/>
                </a:solidFill>
              </a:rPr>
            </a:br>
            <a:r>
              <a:rPr lang="en">
                <a:solidFill>
                  <a:schemeClr val="dk1"/>
                </a:solidFill>
              </a:rPr>
              <a:t>So </a:t>
            </a:r>
            <a:r>
              <a:rPr b="1" lang="en">
                <a:solidFill>
                  <a:schemeClr val="dk1"/>
                </a:solidFill>
              </a:rPr>
              <a:t>FAISS always contains the entire regional player set</a:t>
            </a:r>
            <a:r>
              <a:rPr lang="en">
                <a:solidFill>
                  <a:schemeClr val="dk1"/>
                </a:solidFill>
              </a:rPr>
              <a:t> — it does not change dynamically.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To manage player availability, the </a:t>
            </a:r>
            <a:r>
              <a:rPr b="1" lang="en">
                <a:solidFill>
                  <a:schemeClr val="dk1"/>
                </a:solidFill>
              </a:rPr>
              <a:t>shard keeps two local pools</a:t>
            </a:r>
            <a:r>
              <a:rPr lang="en">
                <a:solidFill>
                  <a:schemeClr val="dk1"/>
                </a:solidFill>
              </a:rPr>
              <a:t>:</a:t>
            </a:r>
            <a:br>
              <a:rPr lang="en">
                <a:solidFill>
                  <a:schemeClr val="dk1"/>
                </a:solidFill>
              </a:rPr>
            </a:br>
            <a:r>
              <a:rPr lang="en">
                <a:solidFill>
                  <a:schemeClr val="dk1"/>
                </a:solidFill>
              </a:rPr>
              <a:t> one pool tracks </a:t>
            </a:r>
            <a:r>
              <a:rPr b="1" lang="en">
                <a:solidFill>
                  <a:schemeClr val="dk1"/>
                </a:solidFill>
              </a:rPr>
              <a:t>players who are offline</a:t>
            </a:r>
            <a:r>
              <a:rPr lang="en">
                <a:solidFill>
                  <a:schemeClr val="dk1"/>
                </a:solidFill>
              </a:rPr>
              <a:t>, and another pool tracks </a:t>
            </a:r>
            <a:r>
              <a:rPr b="1" lang="en">
                <a:solidFill>
                  <a:schemeClr val="dk1"/>
                </a:solidFill>
              </a:rPr>
              <a:t>players who are busy</a:t>
            </a:r>
            <a:r>
              <a:rPr lang="en">
                <a:solidFill>
                  <a:schemeClr val="dk1"/>
                </a:solidFill>
              </a:rPr>
              <a:t> and already in a match.</a:t>
            </a:r>
            <a:br>
              <a:rPr lang="en">
                <a:solidFill>
                  <a:schemeClr val="dk1"/>
                </a:solidFill>
              </a:rPr>
            </a:br>
            <a:r>
              <a:rPr lang="en">
                <a:solidFill>
                  <a:schemeClr val="dk1"/>
                </a:solidFill>
              </a:rPr>
              <a:t> These </a:t>
            </a:r>
            <a:r>
              <a:rPr b="1" lang="en">
                <a:solidFill>
                  <a:schemeClr val="dk1"/>
                </a:solidFill>
              </a:rPr>
              <a:t>pools are used later by the filter to remove players who should not be matched</a:t>
            </a:r>
            <a:r>
              <a:rPr lang="en">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This setup lets the shard run fast similarity searches using FAISS while still respecting who is actually available.</a:t>
            </a:r>
            <a:br>
              <a:rPr lang="en">
                <a:solidFill>
                  <a:schemeClr val="dk1"/>
                </a:solidFill>
              </a:rPr>
            </a:br>
            <a:r>
              <a:rPr lang="en">
                <a:solidFill>
                  <a:schemeClr val="dk1"/>
                </a:solidFill>
              </a:rPr>
              <a:t> So overall, </a:t>
            </a:r>
            <a:r>
              <a:rPr b="1" lang="en">
                <a:solidFill>
                  <a:schemeClr val="dk1"/>
                </a:solidFill>
              </a:rPr>
              <a:t>the shard works as a regional matchmaking engine that performs similarity search and maintains accurate player state.</a:t>
            </a:r>
            <a:endParaRPr b="1">
              <a:solidFill>
                <a:schemeClr val="dk1"/>
              </a:solidFill>
            </a:endParaRPr>
          </a:p>
          <a:p>
            <a:pPr indent="0" lvl="0" marL="0" rtl="0" algn="l">
              <a:lnSpc>
                <a:spcPct val="115000"/>
              </a:lnSpc>
              <a:spcBef>
                <a:spcPts val="1200"/>
              </a:spcBef>
              <a:spcAft>
                <a:spcPts val="1200"/>
              </a:spcAft>
              <a:buNone/>
            </a:pPr>
            <a:r>
              <a:t/>
            </a:r>
            <a:endParaRPr>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ab86653933_1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ab86653933_1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Presented by Fariba Amiri</a:t>
            </a:r>
            <a:endParaRPr/>
          </a:p>
          <a:p>
            <a:pPr indent="0" lvl="0" marL="0" rtl="0" algn="l">
              <a:lnSpc>
                <a:spcPct val="115000"/>
              </a:lnSpc>
              <a:spcBef>
                <a:spcPts val="1200"/>
              </a:spcBef>
              <a:spcAft>
                <a:spcPts val="0"/>
              </a:spcAft>
              <a:buNone/>
            </a:pPr>
            <a:r>
              <a:rPr lang="en">
                <a:solidFill>
                  <a:schemeClr val="dk1"/>
                </a:solidFill>
              </a:rPr>
              <a:t>At runtime, the shard handles two gRPC calls.</a:t>
            </a:r>
            <a:br>
              <a:rPr lang="en">
                <a:solidFill>
                  <a:schemeClr val="dk1"/>
                </a:solidFill>
              </a:rPr>
            </a:br>
            <a:r>
              <a:rPr lang="en">
                <a:solidFill>
                  <a:schemeClr val="dk1"/>
                </a:solidFill>
              </a:rPr>
              <a:t>The first is </a:t>
            </a:r>
            <a:r>
              <a:rPr lang="en">
                <a:solidFill>
                  <a:srgbClr val="188038"/>
                </a:solidFill>
                <a:latin typeface="Roboto Mono"/>
                <a:ea typeface="Roboto Mono"/>
                <a:cs typeface="Roboto Mono"/>
                <a:sym typeface="Roboto Mono"/>
              </a:rPr>
              <a:t>RequestPlayers</a:t>
            </a:r>
            <a:r>
              <a:rPr lang="en">
                <a:solidFill>
                  <a:schemeClr val="dk1"/>
                </a:solidFill>
              </a:rPr>
              <a:t>.</a:t>
            </a:r>
            <a:br>
              <a:rPr lang="en">
                <a:solidFill>
                  <a:schemeClr val="dk1"/>
                </a:solidFill>
              </a:rPr>
            </a:br>
            <a:r>
              <a:rPr lang="en">
                <a:solidFill>
                  <a:schemeClr val="dk1"/>
                </a:solidFill>
              </a:rPr>
              <a:t> It receives a query vector and runs a FAISS nearest-neighbor search over </a:t>
            </a:r>
            <a:r>
              <a:rPr i="1" lang="en">
                <a:solidFill>
                  <a:schemeClr val="dk1"/>
                </a:solidFill>
              </a:rPr>
              <a:t>all</a:t>
            </a:r>
            <a:r>
              <a:rPr lang="en">
                <a:solidFill>
                  <a:schemeClr val="dk1"/>
                </a:solidFill>
              </a:rPr>
              <a:t> regional players.</a:t>
            </a:r>
            <a:br>
              <a:rPr lang="en">
                <a:solidFill>
                  <a:schemeClr val="dk1"/>
                </a:solidFill>
              </a:rPr>
            </a:br>
            <a:r>
              <a:rPr lang="en">
                <a:solidFill>
                  <a:schemeClr val="dk1"/>
                </a:solidFill>
              </a:rPr>
              <a:t> After FAISS returns the similar candidates, the shard filters out any players who are either offline or already busy.</a:t>
            </a:r>
            <a:br>
              <a:rPr lang="en">
                <a:solidFill>
                  <a:schemeClr val="dk1"/>
                </a:solidFill>
              </a:rPr>
            </a:br>
            <a:r>
              <a:rPr lang="en">
                <a:solidFill>
                  <a:schemeClr val="dk1"/>
                </a:solidFill>
              </a:rPr>
              <a:t> This ensures the coordinator only receives players who are actually available for matchmaking.</a:t>
            </a:r>
            <a:endParaRPr>
              <a:solidFill>
                <a:schemeClr val="dk1"/>
              </a:solidFill>
            </a:endParaRPr>
          </a:p>
          <a:p>
            <a:pPr indent="0" lvl="0" marL="0" rtl="0" algn="l">
              <a:lnSpc>
                <a:spcPct val="115000"/>
              </a:lnSpc>
              <a:spcBef>
                <a:spcPts val="1200"/>
              </a:spcBef>
              <a:spcAft>
                <a:spcPts val="0"/>
              </a:spcAft>
              <a:buNone/>
            </a:pPr>
            <a:r>
              <a:rPr lang="en">
                <a:solidFill>
                  <a:schemeClr val="dk1"/>
                </a:solidFill>
              </a:rPr>
              <a:t>The second RPC is </a:t>
            </a:r>
            <a:r>
              <a:rPr lang="en">
                <a:solidFill>
                  <a:srgbClr val="188038"/>
                </a:solidFill>
                <a:latin typeface="Roboto Mono"/>
                <a:ea typeface="Roboto Mono"/>
                <a:cs typeface="Roboto Mono"/>
                <a:sym typeface="Roboto Mono"/>
              </a:rPr>
              <a:t>ConfirmToMatch</a:t>
            </a:r>
            <a:r>
              <a:rPr lang="en">
                <a:solidFill>
                  <a:schemeClr val="dk1"/>
                </a:solidFill>
              </a:rPr>
              <a:t>.</a:t>
            </a:r>
            <a:br>
              <a:rPr lang="en">
                <a:solidFill>
                  <a:schemeClr val="dk1"/>
                </a:solidFill>
              </a:rPr>
            </a:br>
            <a:r>
              <a:rPr lang="en">
                <a:solidFill>
                  <a:schemeClr val="dk1"/>
                </a:solidFill>
              </a:rPr>
              <a:t> When the </a:t>
            </a:r>
            <a:r>
              <a:rPr b="1" lang="en">
                <a:solidFill>
                  <a:schemeClr val="dk1"/>
                </a:solidFill>
              </a:rPr>
              <a:t>coordinator forms a match</a:t>
            </a:r>
            <a:r>
              <a:rPr lang="en">
                <a:solidFill>
                  <a:schemeClr val="dk1"/>
                </a:solidFill>
              </a:rPr>
              <a:t>, it </a:t>
            </a:r>
            <a:r>
              <a:rPr b="1" lang="en">
                <a:solidFill>
                  <a:schemeClr val="dk1"/>
                </a:solidFill>
              </a:rPr>
              <a:t>sends the selected players back to the shard</a:t>
            </a:r>
            <a:r>
              <a:rPr lang="en">
                <a:solidFill>
                  <a:schemeClr val="dk1"/>
                </a:solidFill>
              </a:rPr>
              <a:t>, and the shard marks those players as </a:t>
            </a:r>
            <a:r>
              <a:rPr b="1" lang="en">
                <a:solidFill>
                  <a:schemeClr val="dk1"/>
                </a:solidFill>
              </a:rPr>
              <a:t>busy</a:t>
            </a:r>
            <a:r>
              <a:rPr lang="en">
                <a:solidFill>
                  <a:schemeClr val="dk1"/>
                </a:solidFill>
              </a:rPr>
              <a:t> so they won’t appear in another match.</a:t>
            </a:r>
            <a:endParaRPr>
              <a:solidFill>
                <a:schemeClr val="dk1"/>
              </a:solidFill>
            </a:endParaRPr>
          </a:p>
          <a:p>
            <a:pPr indent="0" lvl="0" marL="0" rtl="0" algn="l">
              <a:lnSpc>
                <a:spcPct val="115000"/>
              </a:lnSpc>
              <a:spcBef>
                <a:spcPts val="1200"/>
              </a:spcBef>
              <a:spcAft>
                <a:spcPts val="0"/>
              </a:spcAft>
              <a:buNone/>
            </a:pPr>
            <a:r>
              <a:rPr lang="en">
                <a:solidFill>
                  <a:schemeClr val="dk1"/>
                </a:solidFill>
              </a:rPr>
              <a:t>The shard also runs a background loop that reshuffles which players are online, simulating logins and logouts and keeping the availability pool dynamic.</a:t>
            </a:r>
            <a:endParaRPr>
              <a:solidFill>
                <a:schemeClr val="dk1"/>
              </a:solidFill>
            </a:endParaRPr>
          </a:p>
          <a:p>
            <a:pPr indent="0" lvl="0" marL="0" rtl="0" algn="l">
              <a:lnSpc>
                <a:spcPct val="115000"/>
              </a:lnSpc>
              <a:spcBef>
                <a:spcPts val="1200"/>
              </a:spcBef>
              <a:spcAft>
                <a:spcPts val="1200"/>
              </a:spcAft>
              <a:buNone/>
            </a:pPr>
            <a:r>
              <a:rPr lang="en">
                <a:solidFill>
                  <a:schemeClr val="dk1"/>
                </a:solidFill>
              </a:rPr>
              <a:t>So overall, the coordinator builds matches, and the shard ensures the player pool stays accurate, filtered, and up to date.</a:t>
            </a:r>
            <a:endParaRPr>
              <a:solidFill>
                <a:schemeClr val="dk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ab5179dec7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3ab5179dec7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Jacob Hopkins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An important challenge we faced was how do we quantify results? And </a:t>
            </a:r>
            <a:r>
              <a:rPr lang="en"/>
              <a:t>what</a:t>
            </a:r>
            <a:r>
              <a:rPr lang="en"/>
              <a:t> do we consider a good match? </a:t>
            </a:r>
            <a:br>
              <a:rPr lang="en"/>
            </a:br>
            <a:br>
              <a:rPr lang="en"/>
            </a:br>
            <a:r>
              <a:rPr lang="en"/>
              <a:t>We used something called a z-score which is </a:t>
            </a:r>
            <a:r>
              <a:rPr lang="en"/>
              <a:t>essentially a score of how many standard deviations a value is from the mean. So for each match and each individual attribute we calculate how many standard deviations the value is from the mean of the match.</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then apply weights to each z-score to give more weight to attributes we care more about.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From there we can create a super score using the average of each attributes Z-score.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Finally I need to mention throughput.</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ab5179dec7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3ab5179dec7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Jacob Hopkins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In order to </a:t>
            </a:r>
            <a:r>
              <a:rPr lang="en"/>
              <a:t>measure</a:t>
            </a:r>
            <a:r>
              <a:rPr lang="en"/>
              <a:t> the improvement of FAISS we needed to measure against a baseline.  We </a:t>
            </a:r>
            <a:r>
              <a:rPr lang="en"/>
              <a:t>created A FIFO baseline without any matchmaking algorithm to have something to compare our FAISS implementation to. </a:t>
            </a:r>
            <a:br>
              <a:rPr lang="en"/>
            </a:br>
            <a:br>
              <a:rPr lang="en"/>
            </a:br>
            <a:r>
              <a:rPr lang="en"/>
              <a:t>We then measured that FIFO baseline against both a FAISS and Weighted FAISS algorithm. Important attributes like Rank and skill reached a much lower z-score which is good. Some attributes like Region saw little to no change.</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ab5179dec7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3ab5179dec7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Jacob Hopkins will present this one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I'm going to lead us into takeaways that we learned from this </a:t>
            </a:r>
            <a:r>
              <a:rPr lang="en"/>
              <a:t>project.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There are two main points we want to cover.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First is some of the technical takeaways:</a:t>
            </a:r>
            <a:br>
              <a:rPr lang="en"/>
            </a:br>
            <a:br>
              <a:rPr lang="en"/>
            </a:br>
            <a:r>
              <a:rPr lang="en"/>
              <a:t>ADD MORE HERE</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Second I want to cover more meta takeaways we got from designing a project like this. </a:t>
            </a:r>
            <a:endParaRPr/>
          </a:p>
          <a:p>
            <a:pPr indent="0" lvl="0" marL="0" rtl="0" algn="l">
              <a:spcBef>
                <a:spcPts val="0"/>
              </a:spcBef>
              <a:spcAft>
                <a:spcPts val="0"/>
              </a:spcAft>
              <a:buNone/>
            </a:pPr>
            <a:r>
              <a:rPr lang="en"/>
              <a:t>A big takeaway we learned in this project is defining a clear research question or problem statement.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There are often a large amount of things that need to be abstracted away when designing a system like this so it's important to consider what aspects you are trying to measure and which need to be abstracted.</a:t>
            </a:r>
            <a:endParaRPr/>
          </a:p>
          <a:p>
            <a:pPr indent="0" lvl="0" marL="0" rtl="0" algn="l">
              <a:spcBef>
                <a:spcPts val="0"/>
              </a:spcBef>
              <a:spcAft>
                <a:spcPts val="0"/>
              </a:spcAft>
              <a:buNone/>
            </a:pPr>
            <a:r>
              <a:rPr lang="en"/>
              <a:t>At first we attempted to have clients along with our coordinator and server. That became too difficult to manage having the coordinator both act as a server and client and then it was also unreasonable to simulate 100,000 client rpc calls we scaled the clients back.</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In our case we abstracted away the physical game clients since we weren't as concerned with the clients workload and the process of connecting and reconnecting clients to game servers.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Another important consideration is a choice of data set. Synthetic datasets are good for testing but have a downside that you lose sense of what your measuring if the data isn't necessarily real.</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ab5179dec7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3ab5179dec7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ab5179dec7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3ab5179dec7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ab780e8ec4_1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3ab780e8ec4_1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comments" Target="../comments/commen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xml"/><Relationship Id="rId3" Type="http://schemas.openxmlformats.org/officeDocument/2006/relationships/comments" Target="../comments/comment2.xml"/><Relationship Id="rId4" Type="http://schemas.openxmlformats.org/officeDocument/2006/relationships/image" Target="../media/image5.png"/><Relationship Id="rId5" Type="http://schemas.openxmlformats.org/officeDocument/2006/relationships/image" Target="../media/image7.png"/><Relationship Id="rId6" Type="http://schemas.openxmlformats.org/officeDocument/2006/relationships/image" Target="../media/image6.png"/><Relationship Id="rId7"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hyperlink" Target="https://toptipbio.com/z-score/" TargetMode="External"/><Relationship Id="rId4" Type="http://schemas.openxmlformats.org/officeDocument/2006/relationships/hyperlink" Target="https://www.worldatlas.com/"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sz="4700"/>
              <a:t>Nearest Neighbor Matchmaking</a:t>
            </a:r>
            <a:endParaRPr sz="4700"/>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lnSpc>
                <a:spcPct val="80000"/>
              </a:lnSpc>
              <a:spcBef>
                <a:spcPts val="0"/>
              </a:spcBef>
              <a:spcAft>
                <a:spcPts val="0"/>
              </a:spcAft>
              <a:buSzPts val="935"/>
              <a:buNone/>
            </a:pPr>
            <a:r>
              <a:rPr lang="en" sz="1280"/>
              <a:t>Fariba Amiri, Sumaiya Azad, Shreeda Ghatpande, Jacob Hopkins &amp; Andy Herbert</a:t>
            </a:r>
            <a:endParaRPr sz="128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Problem Description</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Clr>
                <a:schemeClr val="dk1"/>
              </a:buClr>
              <a:buSzPts val="1100"/>
              <a:buFont typeface="Arial"/>
              <a:buNone/>
            </a:pPr>
            <a:r>
              <a:rPr lang="en"/>
              <a:t>Modern multiplayer games must create matches that are:</a:t>
            </a:r>
            <a:endParaRPr/>
          </a:p>
          <a:p>
            <a:pPr indent="-342900" lvl="0" marL="457200" rtl="0" algn="l">
              <a:spcBef>
                <a:spcPts val="1200"/>
              </a:spcBef>
              <a:spcAft>
                <a:spcPts val="0"/>
              </a:spcAft>
              <a:buClr>
                <a:schemeClr val="dk2"/>
              </a:buClr>
              <a:buSzPts val="1800"/>
              <a:buChar char="●"/>
            </a:pPr>
            <a:r>
              <a:rPr b="1" lang="en"/>
              <a:t>Fair</a:t>
            </a:r>
            <a:r>
              <a:rPr lang="en"/>
              <a:t> i.e players of similar skill and rank</a:t>
            </a:r>
            <a:endParaRPr/>
          </a:p>
          <a:p>
            <a:pPr indent="-342900" lvl="0" marL="457200" rtl="0" algn="l">
              <a:spcBef>
                <a:spcPts val="0"/>
              </a:spcBef>
              <a:spcAft>
                <a:spcPts val="0"/>
              </a:spcAft>
              <a:buClr>
                <a:schemeClr val="dk2"/>
              </a:buClr>
              <a:buSzPts val="1800"/>
              <a:buChar char="●"/>
            </a:pPr>
            <a:r>
              <a:rPr b="1" lang="en"/>
              <a:t>Fast</a:t>
            </a:r>
            <a:r>
              <a:rPr lang="en"/>
              <a:t> i.e  minimal wait time</a:t>
            </a:r>
            <a:endParaRPr/>
          </a:p>
          <a:p>
            <a:pPr indent="-342900" lvl="0" marL="457200" rtl="0" algn="l">
              <a:spcBef>
                <a:spcPts val="0"/>
              </a:spcBef>
              <a:spcAft>
                <a:spcPts val="0"/>
              </a:spcAft>
              <a:buClr>
                <a:schemeClr val="dk2"/>
              </a:buClr>
              <a:buSzPts val="1800"/>
              <a:buChar char="●"/>
            </a:pPr>
            <a:r>
              <a:rPr b="1" lang="en"/>
              <a:t>Stable</a:t>
            </a:r>
            <a:r>
              <a:rPr lang="en"/>
              <a:t> i.e low latency, same region when possible</a:t>
            </a:r>
            <a:endParaRPr b="1"/>
          </a:p>
          <a:p>
            <a:pPr indent="0" lvl="0" marL="0" rtl="0" algn="l">
              <a:spcBef>
                <a:spcPts val="1200"/>
              </a:spcBef>
              <a:spcAft>
                <a:spcPts val="0"/>
              </a:spcAft>
              <a:buNone/>
            </a:pPr>
            <a:r>
              <a:rPr b="1" lang="en"/>
              <a:t>Core Problem:</a:t>
            </a:r>
            <a:br>
              <a:rPr lang="en"/>
            </a:br>
            <a:r>
              <a:rPr lang="en"/>
              <a:t>How can we form balanced, high-quality matches quickly at large scale?</a:t>
            </a:r>
            <a:endParaRPr/>
          </a:p>
          <a:p>
            <a:pPr indent="0" lvl="0" marL="0" rtl="0" algn="l">
              <a:spcBef>
                <a:spcPts val="1200"/>
              </a:spcBef>
              <a:spcAft>
                <a:spcPts val="1200"/>
              </a:spcAft>
              <a:buNone/>
            </a:pPr>
            <a:r>
              <a:rPr lang="en"/>
              <a:t>Traditional matchmaking systems (like matchtrees or simple queues) fail to balance these goals effectively in a large scale distributed system.</a:t>
            </a:r>
            <a:endParaRPr/>
          </a:p>
        </p:txBody>
      </p:sp>
      <p:sp>
        <p:nvSpPr>
          <p:cNvPr id="62" name="Google Shape;62;p14"/>
          <p:cNvSpPr txBox="1"/>
          <p:nvPr>
            <p:ph idx="4294967295" type="subTitle"/>
          </p:nvPr>
        </p:nvSpPr>
        <p:spPr>
          <a:xfrm>
            <a:off x="4339550" y="4703625"/>
            <a:ext cx="7117800" cy="295500"/>
          </a:xfrm>
          <a:prstGeom prst="rect">
            <a:avLst/>
          </a:prstGeom>
        </p:spPr>
        <p:txBody>
          <a:bodyPr anchorCtr="0" anchor="t" bIns="91425" lIns="91425" spcFirstLastPara="1" rIns="91425" wrap="square" tIns="91425">
            <a:normAutofit lnSpcReduction="10000"/>
          </a:bodyPr>
          <a:lstStyle/>
          <a:p>
            <a:pPr indent="0" lvl="0" marL="0" rtl="0" algn="l">
              <a:lnSpc>
                <a:spcPct val="80000"/>
              </a:lnSpc>
              <a:spcBef>
                <a:spcPts val="0"/>
              </a:spcBef>
              <a:spcAft>
                <a:spcPts val="1200"/>
              </a:spcAft>
              <a:buSzPts val="935"/>
              <a:buNone/>
            </a:pPr>
            <a:r>
              <a:rPr lang="en" sz="980"/>
              <a:t>Fariba Amiri, Sumaiya Azad, Shreeda Ghatpande, Jacob Hopkins &amp; Andy Herbert</a:t>
            </a:r>
            <a:endParaRPr sz="98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Project Idea</a:t>
            </a:r>
            <a:endParaRPr/>
          </a:p>
        </p:txBody>
      </p:sp>
      <p:sp>
        <p:nvSpPr>
          <p:cNvPr id="68" name="Google Shape;68;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Distribute systems </a:t>
            </a:r>
            <a:r>
              <a:rPr lang="en"/>
              <a:t>(players) </a:t>
            </a:r>
            <a:r>
              <a:rPr b="1" lang="en"/>
              <a:t>across server workloads </a:t>
            </a:r>
            <a:r>
              <a:rPr lang="en"/>
              <a:t>(game servers)</a:t>
            </a:r>
            <a:r>
              <a:rPr b="1" lang="en"/>
              <a:t> using Approximate Nearest Neighbor </a:t>
            </a:r>
            <a:r>
              <a:rPr lang="en"/>
              <a:t>(ANN) </a:t>
            </a:r>
            <a:r>
              <a:rPr b="1" lang="en"/>
              <a:t>and matchmaking</a:t>
            </a:r>
            <a:endParaRPr/>
          </a:p>
          <a:p>
            <a:pPr indent="-342900" lvl="0" marL="457200" rtl="0" algn="l">
              <a:spcBef>
                <a:spcPts val="1200"/>
              </a:spcBef>
              <a:spcAft>
                <a:spcPts val="0"/>
              </a:spcAft>
              <a:buSzPts val="1800"/>
              <a:buChar char="●"/>
            </a:pPr>
            <a:r>
              <a:rPr lang="en"/>
              <a:t>ANN- using vectorized attributes, select shard(s) likely to contain value</a:t>
            </a:r>
            <a:endParaRPr/>
          </a:p>
          <a:p>
            <a:pPr indent="-317500" lvl="1" marL="914400" rtl="0" algn="l">
              <a:spcBef>
                <a:spcPts val="0"/>
              </a:spcBef>
              <a:spcAft>
                <a:spcPts val="0"/>
              </a:spcAft>
              <a:buSzPts val="1400"/>
              <a:buChar char="○"/>
            </a:pPr>
            <a:r>
              <a:rPr lang="en"/>
              <a:t>Represented by global regions</a:t>
            </a:r>
            <a:endParaRPr/>
          </a:p>
          <a:p>
            <a:pPr indent="-342900" lvl="0" marL="457200" rtl="0" algn="l">
              <a:spcBef>
                <a:spcPts val="0"/>
              </a:spcBef>
              <a:spcAft>
                <a:spcPts val="0"/>
              </a:spcAft>
              <a:buSzPts val="1800"/>
              <a:buChar char="●"/>
            </a:pPr>
            <a:r>
              <a:rPr lang="en"/>
              <a:t>Matchmaking- create “ideal” groups of players which will perform some work</a:t>
            </a:r>
            <a:endParaRPr/>
          </a:p>
          <a:p>
            <a:pPr indent="-317500" lvl="1" marL="914400" rtl="0" algn="l">
              <a:spcBef>
                <a:spcPts val="0"/>
              </a:spcBef>
              <a:spcAft>
                <a:spcPts val="0"/>
              </a:spcAft>
              <a:buSzPts val="1400"/>
              <a:buChar char="○"/>
            </a:pPr>
            <a:r>
              <a:rPr lang="en"/>
              <a:t>MatchTree</a:t>
            </a:r>
            <a:endParaRPr/>
          </a:p>
        </p:txBody>
      </p:sp>
      <p:sp>
        <p:nvSpPr>
          <p:cNvPr id="69" name="Google Shape;69;p15"/>
          <p:cNvSpPr txBox="1"/>
          <p:nvPr>
            <p:ph idx="4294967295" type="subTitle"/>
          </p:nvPr>
        </p:nvSpPr>
        <p:spPr>
          <a:xfrm>
            <a:off x="4339550" y="4703625"/>
            <a:ext cx="7117800" cy="295500"/>
          </a:xfrm>
          <a:prstGeom prst="rect">
            <a:avLst/>
          </a:prstGeom>
        </p:spPr>
        <p:txBody>
          <a:bodyPr anchorCtr="0" anchor="t" bIns="91425" lIns="91425" spcFirstLastPara="1" rIns="91425" wrap="square" tIns="91425">
            <a:normAutofit lnSpcReduction="10000"/>
          </a:bodyPr>
          <a:lstStyle/>
          <a:p>
            <a:pPr indent="0" lvl="0" marL="0" rtl="0" algn="l">
              <a:lnSpc>
                <a:spcPct val="80000"/>
              </a:lnSpc>
              <a:spcBef>
                <a:spcPts val="0"/>
              </a:spcBef>
              <a:spcAft>
                <a:spcPts val="1200"/>
              </a:spcAft>
              <a:buSzPts val="935"/>
              <a:buNone/>
            </a:pPr>
            <a:r>
              <a:rPr lang="en" sz="980"/>
              <a:t>Fariba Amiri, Sumaiya Azad, Shreeda Ghatpande, Jacob Hopkins &amp; Andy Herbert</a:t>
            </a:r>
            <a:endParaRPr sz="98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Project Description</a:t>
            </a:r>
            <a:endParaRPr/>
          </a:p>
        </p:txBody>
      </p:sp>
      <p:sp>
        <p:nvSpPr>
          <p:cNvPr id="75" name="Google Shape;75;p1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Clr>
                <a:schemeClr val="dk1"/>
              </a:buClr>
              <a:buSzPts val="1100"/>
              <a:buFont typeface="Arial"/>
              <a:buNone/>
            </a:pPr>
            <a:r>
              <a:rPr b="1" lang="en" sz="1600"/>
              <a:t>Question:</a:t>
            </a:r>
            <a:endParaRPr b="1" sz="1600"/>
          </a:p>
          <a:p>
            <a:pPr indent="-330200" lvl="0" marL="457200" rtl="0" algn="l">
              <a:spcBef>
                <a:spcPts val="1200"/>
              </a:spcBef>
              <a:spcAft>
                <a:spcPts val="0"/>
              </a:spcAft>
              <a:buClr>
                <a:schemeClr val="dk2"/>
              </a:buClr>
              <a:buSzPts val="1600"/>
              <a:buChar char="●"/>
            </a:pPr>
            <a:r>
              <a:rPr b="1" lang="en" sz="1600"/>
              <a:t>Can Approximate Nearest Neighbor (ANN) algorithms</a:t>
            </a:r>
            <a:r>
              <a:rPr lang="en" sz="1600"/>
              <a:t> like </a:t>
            </a:r>
            <a:r>
              <a:rPr b="1" lang="en" sz="1600"/>
              <a:t>FAISS</a:t>
            </a:r>
            <a:r>
              <a:rPr lang="en" sz="1600"/>
              <a:t> improve matchmaking quality in multiplayer games by creating </a:t>
            </a:r>
            <a:r>
              <a:rPr b="1" lang="en" sz="1600"/>
              <a:t>more balanced and faster matches</a:t>
            </a:r>
            <a:r>
              <a:rPr lang="en" sz="1600"/>
              <a:t> compared to traditional matchmaking algorithms?</a:t>
            </a:r>
            <a:endParaRPr b="1" sz="1600"/>
          </a:p>
          <a:p>
            <a:pPr indent="0" lvl="0" marL="0" rtl="0" algn="l">
              <a:spcBef>
                <a:spcPts val="1200"/>
              </a:spcBef>
              <a:spcAft>
                <a:spcPts val="0"/>
              </a:spcAft>
              <a:buClr>
                <a:schemeClr val="dk1"/>
              </a:buClr>
              <a:buSzPts val="1100"/>
              <a:buFont typeface="Arial"/>
              <a:buNone/>
            </a:pPr>
            <a:r>
              <a:rPr b="1" lang="en" sz="1600"/>
              <a:t>Solution:</a:t>
            </a:r>
            <a:endParaRPr b="1" sz="1600"/>
          </a:p>
          <a:p>
            <a:pPr indent="-330200" lvl="0" marL="457200" rtl="0" algn="l">
              <a:spcBef>
                <a:spcPts val="1200"/>
              </a:spcBef>
              <a:spcAft>
                <a:spcPts val="0"/>
              </a:spcAft>
              <a:buClr>
                <a:schemeClr val="dk2"/>
              </a:buClr>
              <a:buSzPts val="1600"/>
              <a:buChar char="●"/>
            </a:pPr>
            <a:r>
              <a:rPr b="1" lang="en" sz="1600"/>
              <a:t>ANN-based matchmaking </a:t>
            </a:r>
            <a:r>
              <a:rPr lang="en" sz="1600"/>
              <a:t>will improve the quality of player matchups in terms of skill, rank, and latency.</a:t>
            </a:r>
            <a:endParaRPr sz="1600"/>
          </a:p>
          <a:p>
            <a:pPr indent="-330200" lvl="0" marL="457200" rtl="0" algn="l">
              <a:spcBef>
                <a:spcPts val="0"/>
              </a:spcBef>
              <a:spcAft>
                <a:spcPts val="0"/>
              </a:spcAft>
              <a:buClr>
                <a:schemeClr val="dk2"/>
              </a:buClr>
              <a:buSzPts val="1600"/>
              <a:buChar char="●"/>
            </a:pPr>
            <a:r>
              <a:rPr b="1" lang="en" sz="1600"/>
              <a:t>ANN </a:t>
            </a:r>
            <a:r>
              <a:rPr lang="en" sz="1600"/>
              <a:t>will create </a:t>
            </a:r>
            <a:r>
              <a:rPr b="1" lang="en" sz="1600"/>
              <a:t>faster, more balanced matches</a:t>
            </a:r>
            <a:r>
              <a:rPr lang="en" sz="1600"/>
              <a:t> compared to baseline.</a:t>
            </a:r>
            <a:endParaRPr sz="1600"/>
          </a:p>
          <a:p>
            <a:pPr indent="0" lvl="0" marL="0" rtl="0" algn="l">
              <a:spcBef>
                <a:spcPts val="1200"/>
              </a:spcBef>
              <a:spcAft>
                <a:spcPts val="1200"/>
              </a:spcAft>
              <a:buNone/>
            </a:pPr>
            <a:r>
              <a:t/>
            </a:r>
            <a:endParaRPr sz="1600"/>
          </a:p>
        </p:txBody>
      </p:sp>
      <p:sp>
        <p:nvSpPr>
          <p:cNvPr id="76" name="Google Shape;76;p16"/>
          <p:cNvSpPr txBox="1"/>
          <p:nvPr>
            <p:ph idx="4294967295" type="subTitle"/>
          </p:nvPr>
        </p:nvSpPr>
        <p:spPr>
          <a:xfrm>
            <a:off x="4339550" y="4703625"/>
            <a:ext cx="7117800" cy="295500"/>
          </a:xfrm>
          <a:prstGeom prst="rect">
            <a:avLst/>
          </a:prstGeom>
        </p:spPr>
        <p:txBody>
          <a:bodyPr anchorCtr="0" anchor="t" bIns="91425" lIns="91425" spcFirstLastPara="1" rIns="91425" wrap="square" tIns="91425">
            <a:normAutofit lnSpcReduction="10000"/>
          </a:bodyPr>
          <a:lstStyle/>
          <a:p>
            <a:pPr indent="0" lvl="0" marL="0" rtl="0" algn="l">
              <a:lnSpc>
                <a:spcPct val="80000"/>
              </a:lnSpc>
              <a:spcBef>
                <a:spcPts val="0"/>
              </a:spcBef>
              <a:spcAft>
                <a:spcPts val="1200"/>
              </a:spcAft>
              <a:buSzPts val="935"/>
              <a:buNone/>
            </a:pPr>
            <a:r>
              <a:rPr lang="en" sz="980"/>
              <a:t>Fariba Amiri, Sumaiya Azad, </a:t>
            </a:r>
            <a:r>
              <a:rPr b="1" lang="en" sz="980"/>
              <a:t>Shreeda Ghatpande</a:t>
            </a:r>
            <a:r>
              <a:rPr lang="en" sz="980"/>
              <a:t>, Jacob Hopkins &amp; Andy Herbert</a:t>
            </a:r>
            <a:endParaRPr sz="98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Measured</a:t>
            </a:r>
            <a:r>
              <a:rPr lang="en"/>
              <a:t> </a:t>
            </a:r>
            <a:r>
              <a:rPr lang="en"/>
              <a:t>Metrics:</a:t>
            </a:r>
            <a:endParaRPr/>
          </a:p>
        </p:txBody>
      </p:sp>
      <p:sp>
        <p:nvSpPr>
          <p:cNvPr id="82" name="Google Shape;82;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rPr b="1" lang="en"/>
              <a:t>Rationale for Metrics:</a:t>
            </a:r>
            <a:endParaRPr b="1"/>
          </a:p>
          <a:p>
            <a:pPr indent="-342900" lvl="0" marL="457200" rtl="0" algn="l">
              <a:spcBef>
                <a:spcPts val="1200"/>
              </a:spcBef>
              <a:spcAft>
                <a:spcPts val="0"/>
              </a:spcAft>
              <a:buClr>
                <a:schemeClr val="dk2"/>
              </a:buClr>
              <a:buSzPts val="1800"/>
              <a:buAutoNum type="arabicPeriod"/>
            </a:pPr>
            <a:r>
              <a:rPr b="1" lang="en"/>
              <a:t>Quality of Matches</a:t>
            </a:r>
            <a:r>
              <a:rPr lang="en"/>
              <a:t>: Use </a:t>
            </a:r>
            <a:r>
              <a:rPr b="1" lang="en"/>
              <a:t>z-scores</a:t>
            </a:r>
            <a:r>
              <a:rPr lang="en"/>
              <a:t> to quantify similarity between player attributes.</a:t>
            </a:r>
            <a:endParaRPr/>
          </a:p>
          <a:p>
            <a:pPr indent="-342900" lvl="0" marL="457200" rtl="0" algn="l">
              <a:spcBef>
                <a:spcPts val="0"/>
              </a:spcBef>
              <a:spcAft>
                <a:spcPts val="0"/>
              </a:spcAft>
              <a:buClr>
                <a:schemeClr val="dk2"/>
              </a:buClr>
              <a:buSzPts val="1800"/>
              <a:buAutoNum type="arabicPeriod"/>
            </a:pPr>
            <a:r>
              <a:rPr b="1" lang="en"/>
              <a:t>Throughput</a:t>
            </a:r>
            <a:r>
              <a:rPr lang="en"/>
              <a:t>: Track the number of matches generated over time.</a:t>
            </a:r>
            <a:endParaRPr/>
          </a:p>
          <a:p>
            <a:pPr indent="-342900" lvl="0" marL="457200" rtl="0" algn="l">
              <a:spcBef>
                <a:spcPts val="0"/>
              </a:spcBef>
              <a:spcAft>
                <a:spcPts val="0"/>
              </a:spcAft>
              <a:buClr>
                <a:schemeClr val="dk2"/>
              </a:buClr>
              <a:buSzPts val="1800"/>
              <a:buAutoNum type="arabicPeriod"/>
            </a:pPr>
            <a:r>
              <a:rPr b="1" lang="en"/>
              <a:t>Scalability</a:t>
            </a:r>
            <a:r>
              <a:rPr lang="en"/>
              <a:t>: Measure system performance as the number of players increases.</a:t>
            </a:r>
            <a:endParaRPr/>
          </a:p>
          <a:p>
            <a:pPr indent="0" lvl="0" marL="0" rtl="0" algn="l">
              <a:spcBef>
                <a:spcPts val="1200"/>
              </a:spcBef>
              <a:spcAft>
                <a:spcPts val="0"/>
              </a:spcAft>
              <a:buNone/>
            </a:pPr>
            <a:r>
              <a:rPr b="1" lang="en"/>
              <a:t>Baseline: </a:t>
            </a:r>
            <a:endParaRPr b="1"/>
          </a:p>
          <a:p>
            <a:pPr indent="0" lvl="0" marL="0" rtl="0" algn="l">
              <a:spcBef>
                <a:spcPts val="1200"/>
              </a:spcBef>
              <a:spcAft>
                <a:spcPts val="1200"/>
              </a:spcAft>
              <a:buNone/>
            </a:pPr>
            <a:r>
              <a:rPr lang="en"/>
              <a:t>Creating matches on first 10 players as a first-come-first-serve basis.</a:t>
            </a:r>
            <a:endParaRPr/>
          </a:p>
        </p:txBody>
      </p:sp>
      <p:sp>
        <p:nvSpPr>
          <p:cNvPr id="83" name="Google Shape;83;p17"/>
          <p:cNvSpPr txBox="1"/>
          <p:nvPr>
            <p:ph idx="4294967295" type="subTitle"/>
          </p:nvPr>
        </p:nvSpPr>
        <p:spPr>
          <a:xfrm>
            <a:off x="4339550" y="4703625"/>
            <a:ext cx="7117800" cy="295500"/>
          </a:xfrm>
          <a:prstGeom prst="rect">
            <a:avLst/>
          </a:prstGeom>
        </p:spPr>
        <p:txBody>
          <a:bodyPr anchorCtr="0" anchor="t" bIns="91425" lIns="91425" spcFirstLastPara="1" rIns="91425" wrap="square" tIns="91425">
            <a:normAutofit lnSpcReduction="10000"/>
          </a:bodyPr>
          <a:lstStyle/>
          <a:p>
            <a:pPr indent="0" lvl="0" marL="0" rtl="0" algn="l">
              <a:lnSpc>
                <a:spcPct val="80000"/>
              </a:lnSpc>
              <a:spcBef>
                <a:spcPts val="0"/>
              </a:spcBef>
              <a:spcAft>
                <a:spcPts val="1200"/>
              </a:spcAft>
              <a:buSzPts val="935"/>
              <a:buNone/>
            </a:pPr>
            <a:r>
              <a:rPr lang="en" sz="980"/>
              <a:t>Fariba Amiri, Sumaiya Azad, </a:t>
            </a:r>
            <a:r>
              <a:rPr b="1" lang="en" sz="980"/>
              <a:t>Shreeda Ghatpande</a:t>
            </a:r>
            <a:r>
              <a:rPr lang="en" sz="980"/>
              <a:t>, Jacob Hopkins &amp; Andy Herbert</a:t>
            </a:r>
            <a:endParaRPr sz="98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System Overview</a:t>
            </a:r>
            <a:endParaRPr/>
          </a:p>
        </p:txBody>
      </p:sp>
      <p:sp>
        <p:nvSpPr>
          <p:cNvPr id="89" name="Google Shape;89;p18"/>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sz="1800"/>
              <a:t>Workload generator</a:t>
            </a:r>
            <a:br>
              <a:rPr lang="en" sz="1800"/>
            </a:br>
            <a:endParaRPr sz="1800"/>
          </a:p>
          <a:p>
            <a:pPr indent="-342900" lvl="0" marL="457200" rtl="0" algn="l">
              <a:spcBef>
                <a:spcPts val="0"/>
              </a:spcBef>
              <a:spcAft>
                <a:spcPts val="0"/>
              </a:spcAft>
              <a:buSzPts val="1800"/>
              <a:buChar char="●"/>
            </a:pPr>
            <a:r>
              <a:rPr lang="en" sz="1800"/>
              <a:t>Coordinator</a:t>
            </a:r>
            <a:br>
              <a:rPr lang="en" sz="1800"/>
            </a:br>
            <a:endParaRPr sz="1800"/>
          </a:p>
          <a:p>
            <a:pPr indent="-342900" lvl="0" marL="457200" rtl="0" algn="l">
              <a:spcBef>
                <a:spcPts val="0"/>
              </a:spcBef>
              <a:spcAft>
                <a:spcPts val="0"/>
              </a:spcAft>
              <a:buSzPts val="1800"/>
              <a:buChar char="●"/>
            </a:pPr>
            <a:r>
              <a:rPr lang="en" sz="1800"/>
              <a:t>Regional server(local shard)</a:t>
            </a:r>
            <a:br>
              <a:rPr lang="en" sz="1800"/>
            </a:br>
            <a:endParaRPr sz="1800"/>
          </a:p>
          <a:p>
            <a:pPr indent="-342900" lvl="0" marL="457200" rtl="0" algn="l">
              <a:spcBef>
                <a:spcPts val="0"/>
              </a:spcBef>
              <a:spcAft>
                <a:spcPts val="0"/>
              </a:spcAft>
              <a:buSzPts val="1800"/>
              <a:buChar char="●"/>
            </a:pPr>
            <a:r>
              <a:rPr lang="en" sz="1800"/>
              <a:t>Result Analyzer</a:t>
            </a:r>
            <a:br>
              <a:rPr lang="en" sz="1800"/>
            </a:br>
            <a:endParaRPr sz="1800"/>
          </a:p>
          <a:p>
            <a:pPr indent="-342900" lvl="0" marL="457200" rtl="0" algn="l">
              <a:spcBef>
                <a:spcPts val="0"/>
              </a:spcBef>
              <a:spcAft>
                <a:spcPts val="0"/>
              </a:spcAft>
              <a:buSzPts val="1800"/>
              <a:buChar char="●"/>
            </a:pPr>
            <a:r>
              <a:rPr lang="en" sz="1800"/>
              <a:t>Get Players for a match is the distributed operation.</a:t>
            </a:r>
            <a:endParaRPr sz="1800"/>
          </a:p>
        </p:txBody>
      </p:sp>
      <p:sp>
        <p:nvSpPr>
          <p:cNvPr id="90" name="Google Shape;90;p18"/>
          <p:cNvSpPr txBox="1"/>
          <p:nvPr>
            <p:ph idx="4294967295" type="subTitle"/>
          </p:nvPr>
        </p:nvSpPr>
        <p:spPr>
          <a:xfrm>
            <a:off x="4339550" y="4703625"/>
            <a:ext cx="7117800" cy="295500"/>
          </a:xfrm>
          <a:prstGeom prst="rect">
            <a:avLst/>
          </a:prstGeom>
        </p:spPr>
        <p:txBody>
          <a:bodyPr anchorCtr="0" anchor="t" bIns="91425" lIns="91425" spcFirstLastPara="1" rIns="91425" wrap="square" tIns="91425">
            <a:normAutofit lnSpcReduction="10000"/>
          </a:bodyPr>
          <a:lstStyle/>
          <a:p>
            <a:pPr indent="0" lvl="0" marL="0" rtl="0" algn="l">
              <a:lnSpc>
                <a:spcPct val="80000"/>
              </a:lnSpc>
              <a:spcBef>
                <a:spcPts val="0"/>
              </a:spcBef>
              <a:spcAft>
                <a:spcPts val="1200"/>
              </a:spcAft>
              <a:buSzPts val="935"/>
              <a:buNone/>
            </a:pPr>
            <a:r>
              <a:rPr lang="en" sz="980"/>
              <a:t>Fariba Amiri, Sumaiya Azad, </a:t>
            </a:r>
            <a:r>
              <a:rPr b="1" lang="en" sz="980"/>
              <a:t>Shreeda Ghatpande</a:t>
            </a:r>
            <a:r>
              <a:rPr lang="en" sz="980"/>
              <a:t>, Jacob Hopkins &amp; Andy Herbert</a:t>
            </a:r>
            <a:endParaRPr sz="980"/>
          </a:p>
        </p:txBody>
      </p:sp>
      <p:pic>
        <p:nvPicPr>
          <p:cNvPr id="91" name="Google Shape;91;p18" title="Sysoverview.drawio.png"/>
          <p:cNvPicPr preferRelativeResize="0"/>
          <p:nvPr/>
        </p:nvPicPr>
        <p:blipFill>
          <a:blip r:embed="rId3">
            <a:alphaModFix/>
          </a:blip>
          <a:stretch>
            <a:fillRect/>
          </a:stretch>
        </p:blipFill>
        <p:spPr>
          <a:xfrm>
            <a:off x="4832400" y="1142800"/>
            <a:ext cx="3999900" cy="3416400"/>
          </a:xfrm>
          <a:prstGeom prst="rect">
            <a:avLst/>
          </a:prstGeom>
          <a:noFill/>
          <a:ln>
            <a:noFill/>
          </a:ln>
        </p:spPr>
      </p:pic>
      <p:sp>
        <p:nvSpPr>
          <p:cNvPr id="92" name="Google Shape;92;p18"/>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6" name="Shape 96"/>
        <p:cNvGrpSpPr/>
        <p:nvPr/>
      </p:nvGrpSpPr>
      <p:grpSpPr>
        <a:xfrm>
          <a:off x="0" y="0"/>
          <a:ext cx="0" cy="0"/>
          <a:chOff x="0" y="0"/>
          <a:chExt cx="0" cy="0"/>
        </a:xfrm>
      </p:grpSpPr>
      <p:sp>
        <p:nvSpPr>
          <p:cNvPr id="97" name="Google Shape;97;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Coordinator</a:t>
            </a:r>
            <a:endParaRPr/>
          </a:p>
          <a:p>
            <a:pPr indent="0" lvl="0" marL="0" rtl="0" algn="l">
              <a:spcBef>
                <a:spcPts val="0"/>
              </a:spcBef>
              <a:spcAft>
                <a:spcPts val="0"/>
              </a:spcAft>
              <a:buNone/>
            </a:pPr>
            <a:r>
              <a:t/>
            </a:r>
            <a:endParaRPr/>
          </a:p>
        </p:txBody>
      </p:sp>
      <p:sp>
        <p:nvSpPr>
          <p:cNvPr id="98" name="Google Shape;98;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457200" rtl="0" algn="l">
              <a:spcBef>
                <a:spcPts val="0"/>
              </a:spcBef>
              <a:spcAft>
                <a:spcPts val="0"/>
              </a:spcAft>
              <a:buNone/>
            </a:pPr>
            <a:r>
              <a:rPr lang="en"/>
              <a:t>The ordering or queueing of players to be added to matches</a:t>
            </a:r>
            <a:endParaRPr/>
          </a:p>
          <a:p>
            <a:pPr indent="0" lvl="0" marL="457200" rtl="0" algn="l">
              <a:spcBef>
                <a:spcPts val="1200"/>
              </a:spcBef>
              <a:spcAft>
                <a:spcPts val="0"/>
              </a:spcAft>
              <a:buNone/>
            </a:pPr>
            <a:r>
              <a:rPr lang="en"/>
              <a:t>Describe player attributes and encoding.</a:t>
            </a:r>
            <a:endParaRPr/>
          </a:p>
          <a:p>
            <a:pPr indent="0" lvl="0" marL="457200" rtl="0" algn="l">
              <a:spcBef>
                <a:spcPts val="1200"/>
              </a:spcBef>
              <a:spcAft>
                <a:spcPts val="0"/>
              </a:spcAft>
              <a:buNone/>
            </a:pPr>
            <a:r>
              <a:rPr lang="en"/>
              <a:t>How coordinator creates queues </a:t>
            </a:r>
            <a:endParaRPr/>
          </a:p>
          <a:p>
            <a:pPr indent="0" lvl="0" marL="457200" rtl="0" algn="l">
              <a:spcBef>
                <a:spcPts val="1200"/>
              </a:spcBef>
              <a:spcAft>
                <a:spcPts val="0"/>
              </a:spcAft>
              <a:buNone/>
            </a:pPr>
            <a:r>
              <a:rPr lang="en"/>
              <a:t>for </a:t>
            </a:r>
            <a:r>
              <a:rPr lang="en"/>
              <a:t>different</a:t>
            </a:r>
            <a:r>
              <a:rPr lang="en"/>
              <a:t> benchmarking?</a:t>
            </a:r>
            <a:endParaRPr/>
          </a:p>
          <a:p>
            <a:pPr indent="0" lvl="0" marL="457200" rtl="0" algn="l">
              <a:spcBef>
                <a:spcPts val="1200"/>
              </a:spcBef>
              <a:spcAft>
                <a:spcPts val="1200"/>
              </a:spcAft>
              <a:buNone/>
            </a:pPr>
            <a:r>
              <a:t/>
            </a:r>
            <a:endParaRPr/>
          </a:p>
        </p:txBody>
      </p:sp>
      <p:pic>
        <p:nvPicPr>
          <p:cNvPr id="99" name="Google Shape;99;p19"/>
          <p:cNvPicPr preferRelativeResize="0"/>
          <p:nvPr/>
        </p:nvPicPr>
        <p:blipFill>
          <a:blip r:embed="rId3">
            <a:alphaModFix/>
          </a:blip>
          <a:stretch>
            <a:fillRect/>
          </a:stretch>
        </p:blipFill>
        <p:spPr>
          <a:xfrm>
            <a:off x="4572000" y="2258026"/>
            <a:ext cx="3876448" cy="1975424"/>
          </a:xfrm>
          <a:prstGeom prst="rect">
            <a:avLst/>
          </a:prstGeom>
          <a:noFill/>
          <a:ln>
            <a:noFill/>
          </a:ln>
        </p:spPr>
      </p:pic>
      <p:sp>
        <p:nvSpPr>
          <p:cNvPr id="100" name="Google Shape;100;p19"/>
          <p:cNvSpPr txBox="1"/>
          <p:nvPr>
            <p:ph idx="4294967295" type="subTitle"/>
          </p:nvPr>
        </p:nvSpPr>
        <p:spPr>
          <a:xfrm>
            <a:off x="4339550" y="4703625"/>
            <a:ext cx="7117800" cy="295500"/>
          </a:xfrm>
          <a:prstGeom prst="rect">
            <a:avLst/>
          </a:prstGeom>
        </p:spPr>
        <p:txBody>
          <a:bodyPr anchorCtr="0" anchor="t" bIns="91425" lIns="91425" spcFirstLastPara="1" rIns="91425" wrap="square" tIns="91425">
            <a:normAutofit lnSpcReduction="10000"/>
          </a:bodyPr>
          <a:lstStyle/>
          <a:p>
            <a:pPr indent="0" lvl="0" marL="0" rtl="0" algn="l">
              <a:lnSpc>
                <a:spcPct val="80000"/>
              </a:lnSpc>
              <a:spcBef>
                <a:spcPts val="0"/>
              </a:spcBef>
              <a:spcAft>
                <a:spcPts val="1200"/>
              </a:spcAft>
              <a:buSzPts val="935"/>
              <a:buNone/>
            </a:pPr>
            <a:r>
              <a:rPr lang="en" sz="980"/>
              <a:t>Fariba Amiri, Sumaiya Azad, Shreeda Ghatpande, Jacob Hopkins &amp; Andy Herbert</a:t>
            </a:r>
            <a:endParaRPr sz="980"/>
          </a:p>
        </p:txBody>
      </p:sp>
      <p:sp>
        <p:nvSpPr>
          <p:cNvPr id="101" name="Google Shape;101;p19"/>
          <p:cNvSpPr txBox="1"/>
          <p:nvPr/>
        </p:nvSpPr>
        <p:spPr>
          <a:xfrm>
            <a:off x="8068325" y="4079500"/>
            <a:ext cx="4062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2"/>
                </a:solidFill>
              </a:rPr>
              <a:t>[2]</a:t>
            </a:r>
            <a:endParaRPr sz="1000">
              <a:solidFill>
                <a:schemeClr val="dk2"/>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MatchTree- matchmaking algorithm</a:t>
            </a:r>
            <a:endParaRPr/>
          </a:p>
        </p:txBody>
      </p:sp>
      <p:sp>
        <p:nvSpPr>
          <p:cNvPr id="107" name="Google Shape;107;p20"/>
          <p:cNvSpPr txBox="1"/>
          <p:nvPr>
            <p:ph idx="1" type="body"/>
          </p:nvPr>
        </p:nvSpPr>
        <p:spPr>
          <a:xfrm>
            <a:off x="311700" y="1152475"/>
            <a:ext cx="4027800" cy="3657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Emphasis: minimize wait time, maximize ideal matches</a:t>
            </a:r>
            <a:endParaRPr/>
          </a:p>
          <a:p>
            <a:pPr indent="0" lvl="0" marL="0" rtl="0" algn="l">
              <a:spcBef>
                <a:spcPts val="1200"/>
              </a:spcBef>
              <a:spcAft>
                <a:spcPts val="0"/>
              </a:spcAft>
              <a:buNone/>
            </a:pPr>
            <a:r>
              <a:rPr b="1" lang="en"/>
              <a:t>Ruleset</a:t>
            </a:r>
            <a:r>
              <a:rPr lang="en"/>
              <a:t>: conditions which indicate if a group of players is valid</a:t>
            </a:r>
            <a:endParaRPr/>
          </a:p>
          <a:p>
            <a:pPr indent="0" lvl="0" marL="0" rtl="0" algn="l">
              <a:spcBef>
                <a:spcPts val="1200"/>
              </a:spcBef>
              <a:spcAft>
                <a:spcPts val="0"/>
              </a:spcAft>
              <a:buNone/>
            </a:pPr>
            <a:r>
              <a:rPr b="1" lang="en"/>
              <a:t>MatchTree</a:t>
            </a:r>
            <a:r>
              <a:rPr lang="en"/>
              <a:t>: links to players creating valid matches with a ruleset</a:t>
            </a:r>
            <a:endParaRPr/>
          </a:p>
          <a:p>
            <a:pPr indent="0" lvl="0" marL="0" rtl="0" algn="l">
              <a:spcBef>
                <a:spcPts val="1200"/>
              </a:spcBef>
              <a:spcAft>
                <a:spcPts val="0"/>
              </a:spcAft>
              <a:buNone/>
            </a:pPr>
            <a:r>
              <a:rPr lang="en"/>
              <a:t>Handle thousands of players: pruning, optimizations</a:t>
            </a:r>
            <a:endParaRPr/>
          </a:p>
          <a:p>
            <a:pPr indent="0" lvl="0" marL="0" rtl="0" algn="l">
              <a:spcBef>
                <a:spcPts val="1200"/>
              </a:spcBef>
              <a:spcAft>
                <a:spcPts val="1200"/>
              </a:spcAft>
              <a:buNone/>
            </a:pPr>
            <a:r>
              <a:rPr lang="en"/>
              <a:t>Priority further selects ideal matches</a:t>
            </a:r>
            <a:endParaRPr/>
          </a:p>
        </p:txBody>
      </p:sp>
      <p:sp>
        <p:nvSpPr>
          <p:cNvPr id="108" name="Google Shape;108;p20"/>
          <p:cNvSpPr txBox="1"/>
          <p:nvPr>
            <p:ph idx="4294967295" type="subTitle"/>
          </p:nvPr>
        </p:nvSpPr>
        <p:spPr>
          <a:xfrm>
            <a:off x="4339550" y="4703625"/>
            <a:ext cx="7117800" cy="295500"/>
          </a:xfrm>
          <a:prstGeom prst="rect">
            <a:avLst/>
          </a:prstGeom>
        </p:spPr>
        <p:txBody>
          <a:bodyPr anchorCtr="0" anchor="t" bIns="91425" lIns="91425" spcFirstLastPara="1" rIns="91425" wrap="square" tIns="91425">
            <a:normAutofit lnSpcReduction="10000"/>
          </a:bodyPr>
          <a:lstStyle/>
          <a:p>
            <a:pPr indent="0" lvl="0" marL="0" rtl="0" algn="l">
              <a:lnSpc>
                <a:spcPct val="80000"/>
              </a:lnSpc>
              <a:spcBef>
                <a:spcPts val="0"/>
              </a:spcBef>
              <a:spcAft>
                <a:spcPts val="1200"/>
              </a:spcAft>
              <a:buSzPts val="935"/>
              <a:buNone/>
            </a:pPr>
            <a:r>
              <a:rPr lang="en" sz="980"/>
              <a:t>Fariba Amiri, Sumaiya Azad, Shreeda Ghatpande, Jacob Hopkins &amp; Andy Herbert</a:t>
            </a:r>
            <a:endParaRPr sz="980"/>
          </a:p>
        </p:txBody>
      </p:sp>
      <p:pic>
        <p:nvPicPr>
          <p:cNvPr id="109" name="Google Shape;109;p20" title="MatchTree example.png"/>
          <p:cNvPicPr preferRelativeResize="0"/>
          <p:nvPr/>
        </p:nvPicPr>
        <p:blipFill>
          <a:blip r:embed="rId3">
            <a:alphaModFix/>
          </a:blip>
          <a:stretch>
            <a:fillRect/>
          </a:stretch>
        </p:blipFill>
        <p:spPr>
          <a:xfrm>
            <a:off x="4354267" y="1152475"/>
            <a:ext cx="4555210" cy="34164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1"/>
          <p:cNvSpPr txBox="1"/>
          <p:nvPr>
            <p:ph type="title"/>
          </p:nvPr>
        </p:nvSpPr>
        <p:spPr>
          <a:xfrm>
            <a:off x="311700" y="2598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Player Generation and Attributes</a:t>
            </a:r>
            <a:endParaRPr/>
          </a:p>
          <a:p>
            <a:pPr indent="0" lvl="0" marL="0" rtl="0" algn="l">
              <a:spcBef>
                <a:spcPts val="0"/>
              </a:spcBef>
              <a:spcAft>
                <a:spcPts val="0"/>
              </a:spcAft>
              <a:buNone/>
            </a:pPr>
            <a:r>
              <a:t/>
            </a:r>
            <a:endParaRPr/>
          </a:p>
        </p:txBody>
      </p:sp>
      <p:sp>
        <p:nvSpPr>
          <p:cNvPr id="115" name="Google Shape;115;p21"/>
          <p:cNvSpPr txBox="1"/>
          <p:nvPr>
            <p:ph idx="1" type="body"/>
          </p:nvPr>
        </p:nvSpPr>
        <p:spPr>
          <a:xfrm>
            <a:off x="311700" y="924500"/>
            <a:ext cx="8781000" cy="3950700"/>
          </a:xfrm>
          <a:prstGeom prst="rect">
            <a:avLst/>
          </a:prstGeom>
        </p:spPr>
        <p:txBody>
          <a:bodyPr anchorCtr="0" anchor="t" bIns="91425" lIns="91425" spcFirstLastPara="1" rIns="91425" wrap="square" tIns="91425">
            <a:normAutofit fontScale="25000" lnSpcReduction="20000"/>
          </a:bodyPr>
          <a:lstStyle/>
          <a:p>
            <a:pPr indent="0" lvl="0" marL="0" rtl="0" algn="l">
              <a:spcBef>
                <a:spcPts val="0"/>
              </a:spcBef>
              <a:spcAft>
                <a:spcPts val="0"/>
              </a:spcAft>
              <a:buNone/>
            </a:pPr>
            <a:r>
              <a:rPr b="1" lang="en" sz="4800"/>
              <a:t>Goal</a:t>
            </a:r>
            <a:r>
              <a:rPr lang="en" sz="4800"/>
              <a:t> </a:t>
            </a:r>
            <a:endParaRPr sz="4800"/>
          </a:p>
          <a:p>
            <a:pPr indent="-304800" lvl="0" marL="457200" rtl="0" algn="l">
              <a:spcBef>
                <a:spcPts val="1200"/>
              </a:spcBef>
              <a:spcAft>
                <a:spcPts val="0"/>
              </a:spcAft>
              <a:buSzPct val="100000"/>
              <a:buChar char="●"/>
            </a:pPr>
            <a:r>
              <a:rPr lang="en" sz="4800"/>
              <a:t>generate players with realistic gaming attributes</a:t>
            </a:r>
            <a:endParaRPr sz="4800"/>
          </a:p>
          <a:p>
            <a:pPr indent="-304800" lvl="0" marL="457200" rtl="0" algn="l">
              <a:spcBef>
                <a:spcPts val="0"/>
              </a:spcBef>
              <a:spcAft>
                <a:spcPts val="0"/>
              </a:spcAft>
              <a:buSzPct val="100000"/>
              <a:buChar char="●"/>
            </a:pPr>
            <a:r>
              <a:rPr lang="en" sz="4800"/>
              <a:t>simulate real online games by differing attributes</a:t>
            </a:r>
            <a:endParaRPr sz="4800"/>
          </a:p>
          <a:p>
            <a:pPr indent="0" lvl="0" marL="0" rtl="0" algn="l">
              <a:spcBef>
                <a:spcPts val="1400"/>
              </a:spcBef>
              <a:spcAft>
                <a:spcPts val="0"/>
              </a:spcAft>
              <a:buClr>
                <a:schemeClr val="dk1"/>
              </a:buClr>
              <a:buSzPts val="275"/>
              <a:buFont typeface="Arial"/>
              <a:buNone/>
            </a:pPr>
            <a:r>
              <a:rPr b="1" lang="en" sz="4800"/>
              <a:t>Attributes</a:t>
            </a:r>
            <a:endParaRPr b="1" sz="4800"/>
          </a:p>
          <a:p>
            <a:pPr indent="-304800" lvl="0" marL="457200" rtl="0" algn="l">
              <a:spcBef>
                <a:spcPts val="1200"/>
              </a:spcBef>
              <a:spcAft>
                <a:spcPts val="0"/>
              </a:spcAft>
              <a:buClr>
                <a:schemeClr val="dk2"/>
              </a:buClr>
              <a:buSzPct val="100000"/>
              <a:buChar char="●"/>
            </a:pPr>
            <a:r>
              <a:rPr b="1" lang="en" sz="4800"/>
              <a:t>Skill Level </a:t>
            </a:r>
            <a:r>
              <a:rPr lang="en" sz="4800"/>
              <a:t>- measure of how good the player is</a:t>
            </a:r>
            <a:endParaRPr sz="4800"/>
          </a:p>
          <a:p>
            <a:pPr indent="-304800" lvl="1" marL="914400" rtl="0" algn="l">
              <a:spcBef>
                <a:spcPts val="0"/>
              </a:spcBef>
              <a:spcAft>
                <a:spcPts val="0"/>
              </a:spcAft>
              <a:buClr>
                <a:schemeClr val="dk2"/>
              </a:buClr>
              <a:buSzPct val="100000"/>
              <a:buChar char="○"/>
            </a:pPr>
            <a:r>
              <a:rPr lang="en" sz="4800"/>
              <a:t>mostly average players, few very high-skill players</a:t>
            </a:r>
            <a:br>
              <a:rPr b="1" lang="en" sz="4800"/>
            </a:br>
            <a:endParaRPr b="1" sz="4800"/>
          </a:p>
          <a:p>
            <a:pPr indent="-304800" lvl="0" marL="457200" rtl="0" algn="l">
              <a:spcBef>
                <a:spcPts val="0"/>
              </a:spcBef>
              <a:spcAft>
                <a:spcPts val="0"/>
              </a:spcAft>
              <a:buClr>
                <a:schemeClr val="dk2"/>
              </a:buClr>
              <a:buSzPct val="100000"/>
              <a:buChar char="●"/>
            </a:pPr>
            <a:r>
              <a:rPr b="1" lang="en" sz="4800"/>
              <a:t>Latency </a:t>
            </a:r>
            <a:r>
              <a:rPr lang="en" sz="4800"/>
              <a:t>- player’s network delay to the server</a:t>
            </a:r>
            <a:endParaRPr sz="4800"/>
          </a:p>
          <a:p>
            <a:pPr indent="-304800" lvl="1" marL="914400" rtl="0" algn="l">
              <a:spcBef>
                <a:spcPts val="0"/>
              </a:spcBef>
              <a:spcAft>
                <a:spcPts val="0"/>
              </a:spcAft>
              <a:buClr>
                <a:schemeClr val="dk2"/>
              </a:buClr>
              <a:buSzPct val="100000"/>
              <a:buChar char="○"/>
            </a:pPr>
            <a:r>
              <a:rPr lang="en" sz="4800"/>
              <a:t>mostly low latency, some high-latency players</a:t>
            </a:r>
            <a:br>
              <a:rPr lang="en" sz="4800"/>
            </a:br>
            <a:endParaRPr sz="4800"/>
          </a:p>
          <a:p>
            <a:pPr indent="-304800" lvl="0" marL="457200" rtl="0" algn="l">
              <a:spcBef>
                <a:spcPts val="0"/>
              </a:spcBef>
              <a:spcAft>
                <a:spcPts val="0"/>
              </a:spcAft>
              <a:buClr>
                <a:schemeClr val="dk2"/>
              </a:buClr>
              <a:buSzPct val="100000"/>
              <a:buChar char="●"/>
            </a:pPr>
            <a:r>
              <a:rPr b="1" lang="en" sz="4800"/>
              <a:t>Region </a:t>
            </a:r>
            <a:r>
              <a:rPr lang="en" sz="4800"/>
              <a:t>- player’s geographical server representation</a:t>
            </a:r>
            <a:endParaRPr sz="4800"/>
          </a:p>
          <a:p>
            <a:pPr indent="-304800" lvl="1" marL="914400" rtl="0" algn="l">
              <a:spcBef>
                <a:spcPts val="0"/>
              </a:spcBef>
              <a:spcAft>
                <a:spcPts val="0"/>
              </a:spcAft>
              <a:buClr>
                <a:schemeClr val="dk2"/>
              </a:buClr>
              <a:buSzPct val="100000"/>
              <a:buChar char="○"/>
            </a:pPr>
            <a:r>
              <a:rPr lang="en" sz="4800"/>
              <a:t>cross </a:t>
            </a:r>
            <a:r>
              <a:rPr lang="en" sz="4800"/>
              <a:t>region</a:t>
            </a:r>
            <a:r>
              <a:rPr lang="en" sz="4800"/>
              <a:t> matches increases delay</a:t>
            </a:r>
            <a:br>
              <a:rPr lang="en" sz="4800"/>
            </a:br>
            <a:endParaRPr sz="4800"/>
          </a:p>
          <a:p>
            <a:pPr indent="-304800" lvl="0" marL="457200" rtl="0" algn="l">
              <a:spcBef>
                <a:spcPts val="0"/>
              </a:spcBef>
              <a:spcAft>
                <a:spcPts val="0"/>
              </a:spcAft>
              <a:buClr>
                <a:schemeClr val="dk2"/>
              </a:buClr>
              <a:buSzPct val="100000"/>
              <a:buChar char="●"/>
            </a:pPr>
            <a:r>
              <a:rPr b="1" lang="en" sz="4800"/>
              <a:t>Rank </a:t>
            </a:r>
            <a:r>
              <a:rPr lang="en" sz="4800"/>
              <a:t>- based directly on Skill Level thresholds</a:t>
            </a:r>
            <a:endParaRPr sz="4800"/>
          </a:p>
          <a:p>
            <a:pPr indent="-304800" lvl="1" marL="914400" rtl="0" algn="l">
              <a:spcBef>
                <a:spcPts val="0"/>
              </a:spcBef>
              <a:spcAft>
                <a:spcPts val="0"/>
              </a:spcAft>
              <a:buClr>
                <a:schemeClr val="dk2"/>
              </a:buClr>
              <a:buSzPct val="100000"/>
              <a:buChar char="○"/>
            </a:pPr>
            <a:r>
              <a:rPr lang="en" sz="4800"/>
              <a:t>determined from skill (Bronze → Silver → Gold → Diamond →  Grandmaster)</a:t>
            </a:r>
            <a:br>
              <a:rPr lang="en" sz="4800"/>
            </a:br>
            <a:endParaRPr sz="4800"/>
          </a:p>
          <a:p>
            <a:pPr indent="-304800" lvl="0" marL="457200" rtl="0" algn="l">
              <a:spcBef>
                <a:spcPts val="0"/>
              </a:spcBef>
              <a:spcAft>
                <a:spcPts val="0"/>
              </a:spcAft>
              <a:buClr>
                <a:schemeClr val="dk2"/>
              </a:buClr>
              <a:buSzPct val="100000"/>
              <a:buChar char="●"/>
            </a:pPr>
            <a:r>
              <a:rPr b="1" lang="en" sz="4800"/>
              <a:t>Playtime Hours </a:t>
            </a:r>
            <a:r>
              <a:rPr lang="en" sz="4800"/>
              <a:t>- player’s online time</a:t>
            </a:r>
            <a:endParaRPr sz="4800"/>
          </a:p>
          <a:p>
            <a:pPr indent="-304800" lvl="1" marL="914400" rtl="0" algn="l">
              <a:spcBef>
                <a:spcPts val="0"/>
              </a:spcBef>
              <a:spcAft>
                <a:spcPts val="0"/>
              </a:spcAft>
              <a:buClr>
                <a:schemeClr val="dk1"/>
              </a:buClr>
              <a:buSzPct val="100000"/>
              <a:buChar char="○"/>
            </a:pPr>
            <a:r>
              <a:rPr lang="en" sz="4800"/>
              <a:t>some players play a lot and some very little</a:t>
            </a:r>
            <a:br>
              <a:rPr lang="en" sz="4800">
                <a:solidFill>
                  <a:schemeClr val="dk1"/>
                </a:solidFill>
              </a:rPr>
            </a:br>
            <a:endParaRPr sz="4800">
              <a:solidFill>
                <a:schemeClr val="dk1"/>
              </a:solidFill>
            </a:endParaRPr>
          </a:p>
          <a:p>
            <a:pPr indent="0" lvl="0" marL="457200" rtl="0" algn="l">
              <a:spcBef>
                <a:spcPts val="1200"/>
              </a:spcBef>
              <a:spcAft>
                <a:spcPts val="1200"/>
              </a:spcAft>
              <a:buNone/>
            </a:pPr>
            <a:r>
              <a:t/>
            </a:r>
            <a:endParaRPr/>
          </a:p>
        </p:txBody>
      </p:sp>
      <p:pic>
        <p:nvPicPr>
          <p:cNvPr id="116" name="Google Shape;116;p21"/>
          <p:cNvPicPr preferRelativeResize="0"/>
          <p:nvPr/>
        </p:nvPicPr>
        <p:blipFill>
          <a:blip r:embed="rId3">
            <a:alphaModFix/>
          </a:blip>
          <a:stretch>
            <a:fillRect/>
          </a:stretch>
        </p:blipFill>
        <p:spPr>
          <a:xfrm>
            <a:off x="4955850" y="1714613"/>
            <a:ext cx="3876448" cy="1975424"/>
          </a:xfrm>
          <a:prstGeom prst="rect">
            <a:avLst/>
          </a:prstGeom>
          <a:noFill/>
          <a:ln>
            <a:noFill/>
          </a:ln>
        </p:spPr>
      </p:pic>
      <p:sp>
        <p:nvSpPr>
          <p:cNvPr id="117" name="Google Shape;117;p21"/>
          <p:cNvSpPr txBox="1"/>
          <p:nvPr>
            <p:ph idx="4294967295" type="subTitle"/>
          </p:nvPr>
        </p:nvSpPr>
        <p:spPr>
          <a:xfrm>
            <a:off x="4319375" y="4807675"/>
            <a:ext cx="7117800" cy="295500"/>
          </a:xfrm>
          <a:prstGeom prst="rect">
            <a:avLst/>
          </a:prstGeom>
        </p:spPr>
        <p:txBody>
          <a:bodyPr anchorCtr="0" anchor="t" bIns="91425" lIns="91425" spcFirstLastPara="1" rIns="91425" wrap="square" tIns="91425">
            <a:normAutofit lnSpcReduction="10000"/>
          </a:bodyPr>
          <a:lstStyle/>
          <a:p>
            <a:pPr indent="0" lvl="0" marL="0" rtl="0" algn="l">
              <a:lnSpc>
                <a:spcPct val="80000"/>
              </a:lnSpc>
              <a:spcBef>
                <a:spcPts val="0"/>
              </a:spcBef>
              <a:spcAft>
                <a:spcPts val="1200"/>
              </a:spcAft>
              <a:buSzPts val="935"/>
              <a:buNone/>
            </a:pPr>
            <a:r>
              <a:rPr lang="en" sz="980"/>
              <a:t>Fariba Amiri, Sumaiya Azad, Shreeda Ghatpande, Jacob Hopkins &amp; Andy Herbert</a:t>
            </a:r>
            <a:endParaRPr sz="980"/>
          </a:p>
        </p:txBody>
      </p:sp>
      <p:sp>
        <p:nvSpPr>
          <p:cNvPr id="118" name="Google Shape;118;p21"/>
          <p:cNvSpPr txBox="1"/>
          <p:nvPr/>
        </p:nvSpPr>
        <p:spPr>
          <a:xfrm>
            <a:off x="8068325" y="4079500"/>
            <a:ext cx="4062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000">
              <a:solidFill>
                <a:schemeClr val="dk2"/>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2"/>
          <p:cNvSpPr txBox="1"/>
          <p:nvPr>
            <p:ph type="title"/>
          </p:nvPr>
        </p:nvSpPr>
        <p:spPr>
          <a:xfrm>
            <a:off x="311700" y="459273"/>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Player Encoding for FAISS</a:t>
            </a:r>
            <a:endParaRPr/>
          </a:p>
          <a:p>
            <a:pPr indent="0" lvl="0" marL="0" rtl="0" algn="l">
              <a:spcBef>
                <a:spcPts val="0"/>
              </a:spcBef>
              <a:spcAft>
                <a:spcPts val="0"/>
              </a:spcAft>
              <a:buNone/>
            </a:pPr>
            <a:r>
              <a:t/>
            </a:r>
            <a:endParaRPr/>
          </a:p>
        </p:txBody>
      </p:sp>
      <p:sp>
        <p:nvSpPr>
          <p:cNvPr id="124" name="Google Shape;124;p22"/>
          <p:cNvSpPr txBox="1"/>
          <p:nvPr>
            <p:ph idx="1" type="body"/>
          </p:nvPr>
        </p:nvSpPr>
        <p:spPr>
          <a:xfrm>
            <a:off x="363075" y="1152475"/>
            <a:ext cx="8781000" cy="3950700"/>
          </a:xfrm>
          <a:prstGeom prst="rect">
            <a:avLst/>
          </a:prstGeom>
        </p:spPr>
        <p:txBody>
          <a:bodyPr anchorCtr="0" anchor="t" bIns="91425" lIns="91425" spcFirstLastPara="1" rIns="91425" wrap="square" tIns="91425">
            <a:normAutofit fontScale="47500" lnSpcReduction="10000"/>
          </a:bodyPr>
          <a:lstStyle/>
          <a:p>
            <a:pPr indent="-304006" lvl="0" marL="457200" rtl="0" algn="l">
              <a:spcBef>
                <a:spcPts val="1200"/>
              </a:spcBef>
              <a:spcAft>
                <a:spcPts val="0"/>
              </a:spcAft>
              <a:buSzPct val="100000"/>
              <a:buChar char="●"/>
            </a:pPr>
            <a:r>
              <a:rPr lang="en" sz="2500"/>
              <a:t> For </a:t>
            </a:r>
            <a:r>
              <a:rPr b="1" lang="en" sz="2500">
                <a:solidFill>
                  <a:schemeClr val="accent1"/>
                </a:solidFill>
              </a:rPr>
              <a:t>Unweighted Encoding (Baseline FAISS)</a:t>
            </a:r>
            <a:r>
              <a:rPr lang="en" sz="2500"/>
              <a:t>, each player is converted to a numeric vector of</a:t>
            </a:r>
            <a:endParaRPr sz="2500"/>
          </a:p>
          <a:p>
            <a:pPr indent="-304006" lvl="1" marL="914400" rtl="0" algn="l">
              <a:spcBef>
                <a:spcPts val="0"/>
              </a:spcBef>
              <a:spcAft>
                <a:spcPts val="0"/>
              </a:spcAft>
              <a:buSzPct val="100000"/>
              <a:buChar char="○"/>
            </a:pPr>
            <a:r>
              <a:rPr lang="en" sz="2500"/>
              <a:t>Skill</a:t>
            </a:r>
            <a:endParaRPr sz="2500"/>
          </a:p>
          <a:p>
            <a:pPr indent="-304006" lvl="1" marL="914400" rtl="0" algn="l">
              <a:spcBef>
                <a:spcPts val="0"/>
              </a:spcBef>
              <a:spcAft>
                <a:spcPts val="0"/>
              </a:spcAft>
              <a:buSzPct val="100000"/>
              <a:buChar char="○"/>
            </a:pPr>
            <a:r>
              <a:rPr lang="en" sz="2500"/>
              <a:t>Latency</a:t>
            </a:r>
            <a:endParaRPr sz="2500"/>
          </a:p>
          <a:p>
            <a:pPr indent="-304006" lvl="1" marL="914400" rtl="0" algn="l">
              <a:spcBef>
                <a:spcPts val="0"/>
              </a:spcBef>
              <a:spcAft>
                <a:spcPts val="0"/>
              </a:spcAft>
              <a:buSzPct val="100000"/>
              <a:buChar char="○"/>
            </a:pPr>
            <a:r>
              <a:rPr lang="en" sz="2500"/>
              <a:t>Rank Index</a:t>
            </a:r>
            <a:endParaRPr sz="2500"/>
          </a:p>
          <a:p>
            <a:pPr indent="-304006" lvl="1" marL="914400" rtl="0" algn="l">
              <a:spcBef>
                <a:spcPts val="0"/>
              </a:spcBef>
              <a:spcAft>
                <a:spcPts val="0"/>
              </a:spcAft>
              <a:buSzPct val="100000"/>
              <a:buChar char="○"/>
            </a:pPr>
            <a:r>
              <a:rPr lang="en" sz="2500"/>
              <a:t>Playtime hour</a:t>
            </a:r>
            <a:endParaRPr sz="2500"/>
          </a:p>
          <a:p>
            <a:pPr indent="-304006" lvl="1" marL="914400" rtl="0" algn="l">
              <a:spcBef>
                <a:spcPts val="0"/>
              </a:spcBef>
              <a:spcAft>
                <a:spcPts val="0"/>
              </a:spcAft>
              <a:buSzPct val="100000"/>
              <a:buChar char="○"/>
            </a:pPr>
            <a:r>
              <a:rPr lang="en" sz="2500"/>
              <a:t>One hot region vector</a:t>
            </a:r>
            <a:endParaRPr sz="2500"/>
          </a:p>
          <a:p>
            <a:pPr indent="0" lvl="0" marL="0" rtl="0" algn="l">
              <a:spcBef>
                <a:spcPts val="1200"/>
              </a:spcBef>
              <a:spcAft>
                <a:spcPts val="0"/>
              </a:spcAft>
              <a:buNone/>
            </a:pPr>
            <a:r>
              <a:rPr lang="en" sz="2500"/>
              <a:t>    ➡️ All attributes treated </a:t>
            </a:r>
            <a:r>
              <a:rPr b="1" lang="en" sz="2500">
                <a:solidFill>
                  <a:schemeClr val="accent1"/>
                </a:solidFill>
              </a:rPr>
              <a:t>equally</a:t>
            </a:r>
            <a:r>
              <a:rPr lang="en" sz="2500"/>
              <a:t> in distance calculation</a:t>
            </a:r>
            <a:endParaRPr sz="2500"/>
          </a:p>
          <a:p>
            <a:pPr indent="-304006" lvl="0" marL="457200" rtl="0" algn="l">
              <a:spcBef>
                <a:spcPts val="1200"/>
              </a:spcBef>
              <a:spcAft>
                <a:spcPts val="0"/>
              </a:spcAft>
              <a:buSzPct val="100000"/>
              <a:buChar char="●"/>
            </a:pPr>
            <a:r>
              <a:rPr lang="en" sz="2500"/>
              <a:t>For </a:t>
            </a:r>
            <a:r>
              <a:rPr b="1" lang="en" sz="2500">
                <a:solidFill>
                  <a:schemeClr val="accent1"/>
                </a:solidFill>
              </a:rPr>
              <a:t>Weighted Encoding (Improved FAISS)</a:t>
            </a:r>
            <a:r>
              <a:rPr lang="en" sz="2500"/>
              <a:t>, we applied custom weights</a:t>
            </a:r>
            <a:endParaRPr sz="2500"/>
          </a:p>
          <a:p>
            <a:pPr indent="-304006" lvl="1" marL="914400" rtl="0" algn="l">
              <a:spcBef>
                <a:spcPts val="0"/>
              </a:spcBef>
              <a:spcAft>
                <a:spcPts val="0"/>
              </a:spcAft>
              <a:buSzPct val="100000"/>
              <a:buChar char="○"/>
            </a:pPr>
            <a:r>
              <a:rPr lang="en" sz="2500"/>
              <a:t>Skill * 5</a:t>
            </a:r>
            <a:endParaRPr sz="2500"/>
          </a:p>
          <a:p>
            <a:pPr indent="-304006" lvl="1" marL="914400" rtl="0" algn="l">
              <a:spcBef>
                <a:spcPts val="0"/>
              </a:spcBef>
              <a:spcAft>
                <a:spcPts val="0"/>
              </a:spcAft>
              <a:buSzPct val="100000"/>
              <a:buChar char="○"/>
            </a:pPr>
            <a:r>
              <a:rPr lang="en" sz="2500"/>
              <a:t>Latency * 2</a:t>
            </a:r>
            <a:endParaRPr sz="2500"/>
          </a:p>
          <a:p>
            <a:pPr indent="-304006" lvl="1" marL="914400" rtl="0" algn="l">
              <a:spcBef>
                <a:spcPts val="0"/>
              </a:spcBef>
              <a:spcAft>
                <a:spcPts val="0"/>
              </a:spcAft>
              <a:buSzPct val="100000"/>
              <a:buChar char="○"/>
            </a:pPr>
            <a:r>
              <a:rPr lang="en" sz="2500"/>
              <a:t>Rank Index * 10</a:t>
            </a:r>
            <a:endParaRPr sz="2500"/>
          </a:p>
          <a:p>
            <a:pPr indent="-304006" lvl="1" marL="914400" rtl="0" algn="l">
              <a:spcBef>
                <a:spcPts val="0"/>
              </a:spcBef>
              <a:spcAft>
                <a:spcPts val="0"/>
              </a:spcAft>
              <a:buSzPct val="100000"/>
              <a:buChar char="○"/>
            </a:pPr>
            <a:r>
              <a:rPr lang="en" sz="2500"/>
              <a:t>Playtime hour * 0.5</a:t>
            </a:r>
            <a:endParaRPr sz="2500"/>
          </a:p>
          <a:p>
            <a:pPr indent="-304006" lvl="1" marL="914400" rtl="0" algn="l">
              <a:spcBef>
                <a:spcPts val="0"/>
              </a:spcBef>
              <a:spcAft>
                <a:spcPts val="0"/>
              </a:spcAft>
              <a:buSzPct val="100000"/>
              <a:buChar char="○"/>
            </a:pPr>
            <a:r>
              <a:rPr lang="en" sz="2500"/>
              <a:t>One hot region vector * 0.2</a:t>
            </a:r>
            <a:endParaRPr sz="2500"/>
          </a:p>
          <a:p>
            <a:pPr indent="0" lvl="0" marL="0" rtl="0" algn="l">
              <a:spcBef>
                <a:spcPts val="1200"/>
              </a:spcBef>
              <a:spcAft>
                <a:spcPts val="0"/>
              </a:spcAft>
              <a:buNone/>
            </a:pPr>
            <a:r>
              <a:rPr lang="en" sz="2500"/>
              <a:t>   ➡️ Makes matchmaking </a:t>
            </a:r>
            <a:r>
              <a:rPr b="1" lang="en" sz="2500">
                <a:solidFill>
                  <a:schemeClr val="accent1"/>
                </a:solidFill>
              </a:rPr>
              <a:t>prefer skill-rank similarity</a:t>
            </a:r>
            <a:r>
              <a:rPr lang="en" sz="2500"/>
              <a:t> more strongly</a:t>
            </a:r>
            <a:endParaRPr b="1" sz="2500">
              <a:solidFill>
                <a:schemeClr val="accent1"/>
              </a:solidFill>
            </a:endParaRPr>
          </a:p>
          <a:p>
            <a:pPr indent="0" lvl="0" marL="0" rtl="0" algn="l">
              <a:spcBef>
                <a:spcPts val="1200"/>
              </a:spcBef>
              <a:spcAft>
                <a:spcPts val="0"/>
              </a:spcAft>
              <a:buNone/>
            </a:pPr>
            <a:br>
              <a:rPr lang="en" sz="1200">
                <a:solidFill>
                  <a:schemeClr val="dk1"/>
                </a:solidFill>
              </a:rPr>
            </a:br>
            <a:endParaRPr sz="1200">
              <a:solidFill>
                <a:schemeClr val="dk1"/>
              </a:solidFill>
            </a:endParaRPr>
          </a:p>
          <a:p>
            <a:pPr indent="0" lvl="0" marL="457200" rtl="0" algn="l">
              <a:spcBef>
                <a:spcPts val="1200"/>
              </a:spcBef>
              <a:spcAft>
                <a:spcPts val="1200"/>
              </a:spcAft>
              <a:buNone/>
            </a:pPr>
            <a:r>
              <a:t/>
            </a:r>
            <a:endParaRPr sz="1200"/>
          </a:p>
        </p:txBody>
      </p:sp>
      <p:sp>
        <p:nvSpPr>
          <p:cNvPr id="125" name="Google Shape;125;p22"/>
          <p:cNvSpPr txBox="1"/>
          <p:nvPr>
            <p:ph idx="4294967295" type="subTitle"/>
          </p:nvPr>
        </p:nvSpPr>
        <p:spPr>
          <a:xfrm>
            <a:off x="4319375" y="4807675"/>
            <a:ext cx="7117800" cy="295500"/>
          </a:xfrm>
          <a:prstGeom prst="rect">
            <a:avLst/>
          </a:prstGeom>
        </p:spPr>
        <p:txBody>
          <a:bodyPr anchorCtr="0" anchor="t" bIns="91425" lIns="91425" spcFirstLastPara="1" rIns="91425" wrap="square" tIns="91425">
            <a:normAutofit lnSpcReduction="10000"/>
          </a:bodyPr>
          <a:lstStyle/>
          <a:p>
            <a:pPr indent="0" lvl="0" marL="0" rtl="0" algn="l">
              <a:lnSpc>
                <a:spcPct val="80000"/>
              </a:lnSpc>
              <a:spcBef>
                <a:spcPts val="0"/>
              </a:spcBef>
              <a:spcAft>
                <a:spcPts val="1200"/>
              </a:spcAft>
              <a:buSzPts val="935"/>
              <a:buNone/>
            </a:pPr>
            <a:r>
              <a:rPr lang="en" sz="980"/>
              <a:t>Fariba Amiri, Sumaiya Azad, Shreeda Ghatpande, Jacob Hopkins &amp; Andy Herbert</a:t>
            </a:r>
            <a:endParaRPr sz="980"/>
          </a:p>
        </p:txBody>
      </p:sp>
      <p:sp>
        <p:nvSpPr>
          <p:cNvPr id="126" name="Google Shape;126;p22"/>
          <p:cNvSpPr txBox="1"/>
          <p:nvPr/>
        </p:nvSpPr>
        <p:spPr>
          <a:xfrm>
            <a:off x="8068325" y="4079500"/>
            <a:ext cx="4062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000">
              <a:solidFill>
                <a:schemeClr val="dk2"/>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Workload Generation</a:t>
            </a:r>
            <a:endParaRPr/>
          </a:p>
          <a:p>
            <a:pPr indent="0" lvl="0" marL="0" rtl="0" algn="l">
              <a:spcBef>
                <a:spcPts val="0"/>
              </a:spcBef>
              <a:spcAft>
                <a:spcPts val="0"/>
              </a:spcAft>
              <a:buNone/>
            </a:pPr>
            <a:r>
              <a:t/>
            </a:r>
            <a:endParaRPr/>
          </a:p>
        </p:txBody>
      </p:sp>
      <p:sp>
        <p:nvSpPr>
          <p:cNvPr id="132" name="Google Shape;132;p23"/>
          <p:cNvSpPr txBox="1"/>
          <p:nvPr>
            <p:ph idx="1" type="body"/>
          </p:nvPr>
        </p:nvSpPr>
        <p:spPr>
          <a:xfrm>
            <a:off x="363075" y="1152475"/>
            <a:ext cx="8781000" cy="3950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sz="1200"/>
              <a:t>Goal</a:t>
            </a:r>
            <a:r>
              <a:rPr lang="en" sz="1200"/>
              <a:t> - simulate a realistic stream of </a:t>
            </a:r>
            <a:r>
              <a:rPr b="1" lang="en" sz="1200">
                <a:solidFill>
                  <a:schemeClr val="accent1"/>
                </a:solidFill>
              </a:rPr>
              <a:t>players requesting matches </a:t>
            </a:r>
            <a:r>
              <a:rPr lang="en" sz="1200"/>
              <a:t>and entering the queue</a:t>
            </a:r>
            <a:endParaRPr sz="1200"/>
          </a:p>
          <a:p>
            <a:pPr indent="0" lvl="0" marL="0" rtl="0" algn="l">
              <a:spcBef>
                <a:spcPts val="1400"/>
              </a:spcBef>
              <a:spcAft>
                <a:spcPts val="0"/>
              </a:spcAft>
              <a:buClr>
                <a:schemeClr val="dk1"/>
              </a:buClr>
              <a:buSzPts val="1100"/>
              <a:buFont typeface="Arial"/>
              <a:buNone/>
            </a:pPr>
            <a:r>
              <a:rPr b="1" lang="en" sz="1200"/>
              <a:t>How it works</a:t>
            </a:r>
            <a:endParaRPr b="1" sz="1200"/>
          </a:p>
          <a:p>
            <a:pPr indent="-304800" lvl="0" marL="457200" rtl="0" algn="l">
              <a:spcBef>
                <a:spcPts val="1200"/>
              </a:spcBef>
              <a:spcAft>
                <a:spcPts val="0"/>
              </a:spcAft>
              <a:buClr>
                <a:schemeClr val="dk2"/>
              </a:buClr>
              <a:buSzPts val="1200"/>
              <a:buChar char="●"/>
            </a:pPr>
            <a:r>
              <a:rPr lang="en" sz="1200"/>
              <a:t>Each request picks a player ID from CSV</a:t>
            </a:r>
            <a:br>
              <a:rPr b="1" lang="en" sz="1200"/>
            </a:br>
            <a:endParaRPr b="1" sz="1200"/>
          </a:p>
          <a:p>
            <a:pPr indent="-304800" lvl="0" marL="457200" rtl="0" algn="l">
              <a:spcBef>
                <a:spcPts val="0"/>
              </a:spcBef>
              <a:spcAft>
                <a:spcPts val="0"/>
              </a:spcAft>
              <a:buClr>
                <a:schemeClr val="dk2"/>
              </a:buClr>
              <a:buSzPts val="1200"/>
              <a:buChar char="●"/>
            </a:pPr>
            <a:r>
              <a:rPr lang="en" sz="1200">
                <a:solidFill>
                  <a:srgbClr val="666666"/>
                </a:solidFill>
              </a:rPr>
              <a:t>Probability of choosing a player is proportional to: </a:t>
            </a:r>
            <a:r>
              <a:rPr b="1" lang="en" sz="1200">
                <a:solidFill>
                  <a:schemeClr val="accent1"/>
                </a:solidFill>
                <a:latin typeface="Roboto Mono"/>
                <a:ea typeface="Roboto Mono"/>
                <a:cs typeface="Roboto Mono"/>
                <a:sym typeface="Roboto Mono"/>
              </a:rPr>
              <a:t>(playtime_hours + 1)^hot_player_bias</a:t>
            </a:r>
            <a:br>
              <a:rPr lang="en" sz="1200"/>
            </a:br>
            <a:endParaRPr sz="1200"/>
          </a:p>
          <a:p>
            <a:pPr indent="-304800" lvl="0" marL="457200" rtl="0" algn="l">
              <a:spcBef>
                <a:spcPts val="0"/>
              </a:spcBef>
              <a:spcAft>
                <a:spcPts val="0"/>
              </a:spcAft>
              <a:buClr>
                <a:schemeClr val="dk2"/>
              </a:buClr>
              <a:buSzPts val="1200"/>
              <a:buChar char="●"/>
            </a:pPr>
            <a:r>
              <a:rPr lang="en" sz="1200"/>
              <a:t>Active player appearing more often in matchmaking simulates real </a:t>
            </a:r>
            <a:r>
              <a:rPr b="1" lang="en" sz="1200">
                <a:solidFill>
                  <a:schemeClr val="accent1"/>
                </a:solidFill>
              </a:rPr>
              <a:t>online player behaviour</a:t>
            </a:r>
            <a:br>
              <a:rPr lang="en" sz="1200"/>
            </a:br>
            <a:endParaRPr sz="1200"/>
          </a:p>
          <a:p>
            <a:pPr indent="-304800" lvl="0" marL="457200" rtl="0" algn="l">
              <a:spcBef>
                <a:spcPts val="0"/>
              </a:spcBef>
              <a:spcAft>
                <a:spcPts val="0"/>
              </a:spcAft>
              <a:buClr>
                <a:srgbClr val="666666"/>
              </a:buClr>
              <a:buSzPts val="1200"/>
              <a:buChar char="●"/>
            </a:pPr>
            <a:r>
              <a:rPr b="1" lang="en" sz="1200">
                <a:solidFill>
                  <a:schemeClr val="accent1"/>
                </a:solidFill>
                <a:latin typeface="Roboto Mono"/>
                <a:ea typeface="Roboto Mono"/>
                <a:cs typeface="Roboto Mono"/>
                <a:sym typeface="Roboto Mono"/>
              </a:rPr>
              <a:t>hot_player_bias = 1.5</a:t>
            </a:r>
            <a:r>
              <a:rPr lang="en" sz="1200">
                <a:solidFill>
                  <a:schemeClr val="dk1"/>
                </a:solidFill>
              </a:rPr>
              <a:t> → heavy, active players appear </a:t>
            </a:r>
            <a:r>
              <a:rPr b="1" lang="en" sz="1200">
                <a:solidFill>
                  <a:schemeClr val="accent1"/>
                </a:solidFill>
              </a:rPr>
              <a:t>more often</a:t>
            </a:r>
            <a:endParaRPr b="1" sz="1200">
              <a:solidFill>
                <a:schemeClr val="accent1"/>
              </a:solidFill>
            </a:endParaRPr>
          </a:p>
          <a:p>
            <a:pPr indent="0" lvl="0" marL="0" rtl="0" algn="l">
              <a:spcBef>
                <a:spcPts val="1200"/>
              </a:spcBef>
              <a:spcAft>
                <a:spcPts val="1200"/>
              </a:spcAft>
              <a:buNone/>
            </a:pPr>
            <a:r>
              <a:rPr b="1" lang="en" sz="1200"/>
              <a:t>Outcome</a:t>
            </a:r>
            <a:r>
              <a:rPr lang="en" sz="1200"/>
              <a:t> - A workload list of player IDs which simulates a </a:t>
            </a:r>
            <a:r>
              <a:rPr b="1" lang="en" sz="1200">
                <a:solidFill>
                  <a:schemeClr val="accent1"/>
                </a:solidFill>
              </a:rPr>
              <a:t>busy server</a:t>
            </a:r>
            <a:r>
              <a:rPr lang="en" sz="1200"/>
              <a:t> with </a:t>
            </a:r>
            <a:r>
              <a:rPr b="1" lang="en" sz="1200">
                <a:solidFill>
                  <a:schemeClr val="accent1"/>
                </a:solidFill>
              </a:rPr>
              <a:t>repeated match requests</a:t>
            </a:r>
            <a:endParaRPr sz="1200"/>
          </a:p>
        </p:txBody>
      </p:sp>
      <p:sp>
        <p:nvSpPr>
          <p:cNvPr id="133" name="Google Shape;133;p23"/>
          <p:cNvSpPr txBox="1"/>
          <p:nvPr>
            <p:ph idx="4294967295" type="subTitle"/>
          </p:nvPr>
        </p:nvSpPr>
        <p:spPr>
          <a:xfrm>
            <a:off x="4319375" y="4807675"/>
            <a:ext cx="7117800" cy="295500"/>
          </a:xfrm>
          <a:prstGeom prst="rect">
            <a:avLst/>
          </a:prstGeom>
        </p:spPr>
        <p:txBody>
          <a:bodyPr anchorCtr="0" anchor="t" bIns="91425" lIns="91425" spcFirstLastPara="1" rIns="91425" wrap="square" tIns="91425">
            <a:normAutofit lnSpcReduction="10000"/>
          </a:bodyPr>
          <a:lstStyle/>
          <a:p>
            <a:pPr indent="0" lvl="0" marL="0" rtl="0" algn="l">
              <a:lnSpc>
                <a:spcPct val="80000"/>
              </a:lnSpc>
              <a:spcBef>
                <a:spcPts val="0"/>
              </a:spcBef>
              <a:spcAft>
                <a:spcPts val="1200"/>
              </a:spcAft>
              <a:buSzPts val="935"/>
              <a:buNone/>
            </a:pPr>
            <a:r>
              <a:rPr lang="en" sz="980"/>
              <a:t>Fariba Amiri, Sumaiya Azad, Shreeda Ghatpande, Jacob Hopkins &amp; Andy Herbert</a:t>
            </a:r>
            <a:endParaRPr sz="980"/>
          </a:p>
        </p:txBody>
      </p:sp>
      <p:sp>
        <p:nvSpPr>
          <p:cNvPr id="134" name="Google Shape;134;p23"/>
          <p:cNvSpPr txBox="1"/>
          <p:nvPr/>
        </p:nvSpPr>
        <p:spPr>
          <a:xfrm>
            <a:off x="8068325" y="4079500"/>
            <a:ext cx="4062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000">
              <a:solidFill>
                <a:schemeClr val="dk2"/>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4"/>
          <p:cNvSpPr txBox="1"/>
          <p:nvPr>
            <p:ph type="title"/>
          </p:nvPr>
        </p:nvSpPr>
        <p:spPr>
          <a:xfrm>
            <a:off x="211950" y="1364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Matchmaking</a:t>
            </a:r>
            <a:endParaRPr/>
          </a:p>
          <a:p>
            <a:pPr indent="0" lvl="0" marL="0" rtl="0" algn="l">
              <a:spcBef>
                <a:spcPts val="0"/>
              </a:spcBef>
              <a:spcAft>
                <a:spcPts val="0"/>
              </a:spcAft>
              <a:buNone/>
            </a:pPr>
            <a:r>
              <a:t/>
            </a:r>
            <a:endParaRPr/>
          </a:p>
        </p:txBody>
      </p:sp>
      <p:sp>
        <p:nvSpPr>
          <p:cNvPr id="140" name="Google Shape;140;p24"/>
          <p:cNvSpPr txBox="1"/>
          <p:nvPr>
            <p:ph idx="1" type="body"/>
          </p:nvPr>
        </p:nvSpPr>
        <p:spPr>
          <a:xfrm>
            <a:off x="0" y="861000"/>
            <a:ext cx="9144000" cy="3950700"/>
          </a:xfrm>
          <a:prstGeom prst="rect">
            <a:avLst/>
          </a:prstGeom>
        </p:spPr>
        <p:txBody>
          <a:bodyPr anchorCtr="0" anchor="t" bIns="91425" lIns="91425" spcFirstLastPara="1" rIns="91425" wrap="square" tIns="91425">
            <a:noAutofit/>
          </a:bodyPr>
          <a:lstStyle/>
          <a:p>
            <a:pPr indent="-304800" lvl="0" marL="457200" rtl="0" algn="l">
              <a:spcBef>
                <a:spcPts val="1200"/>
              </a:spcBef>
              <a:spcAft>
                <a:spcPts val="0"/>
              </a:spcAft>
              <a:buSzPts val="1200"/>
              <a:buChar char="●"/>
            </a:pPr>
            <a:r>
              <a:rPr lang="en" sz="1200"/>
              <a:t> </a:t>
            </a:r>
            <a:r>
              <a:rPr b="1" lang="en" sz="1200">
                <a:solidFill>
                  <a:schemeClr val="accent1"/>
                </a:solidFill>
              </a:rPr>
              <a:t>FIFO</a:t>
            </a:r>
            <a:r>
              <a:rPr lang="en" sz="1200"/>
              <a:t> </a:t>
            </a:r>
            <a:r>
              <a:rPr b="1" lang="en" sz="1200">
                <a:solidFill>
                  <a:schemeClr val="accent1"/>
                </a:solidFill>
              </a:rPr>
              <a:t>Queue</a:t>
            </a:r>
            <a:r>
              <a:rPr lang="en" sz="1200"/>
              <a:t> Matchmaking</a:t>
            </a:r>
            <a:endParaRPr sz="1200"/>
          </a:p>
          <a:p>
            <a:pPr indent="-304800" lvl="1" marL="914400" rtl="0" algn="l">
              <a:spcBef>
                <a:spcPts val="0"/>
              </a:spcBef>
              <a:spcAft>
                <a:spcPts val="0"/>
              </a:spcAft>
              <a:buSzPts val="1200"/>
              <a:buChar char="○"/>
            </a:pPr>
            <a:r>
              <a:rPr lang="en" sz="1200"/>
              <a:t>Maintain a queue of players arriving from workload</a:t>
            </a:r>
            <a:endParaRPr sz="1200"/>
          </a:p>
          <a:p>
            <a:pPr indent="-304800" lvl="1" marL="914400" rtl="0" algn="l">
              <a:spcBef>
                <a:spcPts val="0"/>
              </a:spcBef>
              <a:spcAft>
                <a:spcPts val="0"/>
              </a:spcAft>
              <a:buSzPts val="1200"/>
              <a:buChar char="○"/>
            </a:pPr>
            <a:r>
              <a:rPr lang="en" sz="1200"/>
              <a:t>When there are enough distinct players in the queue, </a:t>
            </a:r>
            <a:endParaRPr sz="1200"/>
          </a:p>
          <a:p>
            <a:pPr indent="-304800" lvl="2" marL="1371600" rtl="0" algn="l">
              <a:spcBef>
                <a:spcPts val="0"/>
              </a:spcBef>
              <a:spcAft>
                <a:spcPts val="0"/>
              </a:spcAft>
              <a:buSzPts val="1200"/>
              <a:buChar char="■"/>
            </a:pPr>
            <a:r>
              <a:rPr lang="en" sz="1200"/>
              <a:t>form a match, mark them as busy </a:t>
            </a:r>
            <a:endParaRPr sz="1200"/>
          </a:p>
          <a:p>
            <a:pPr indent="-304800" lvl="2" marL="1371600" rtl="0" algn="l">
              <a:spcBef>
                <a:spcPts val="0"/>
              </a:spcBef>
              <a:spcAft>
                <a:spcPts val="0"/>
              </a:spcAft>
              <a:buSzPts val="1200"/>
              <a:buChar char="■"/>
            </a:pPr>
            <a:r>
              <a:rPr lang="en" sz="1200"/>
              <a:t>remove from the queue and continue</a:t>
            </a:r>
            <a:endParaRPr sz="1200"/>
          </a:p>
          <a:p>
            <a:pPr indent="0" lvl="0" marL="0" rtl="0" algn="l">
              <a:spcBef>
                <a:spcPts val="1200"/>
              </a:spcBef>
              <a:spcAft>
                <a:spcPts val="0"/>
              </a:spcAft>
              <a:buNone/>
            </a:pPr>
            <a:r>
              <a:t/>
            </a:r>
            <a:endParaRPr sz="1200"/>
          </a:p>
          <a:p>
            <a:pPr indent="-304800" lvl="0" marL="457200" rtl="0" algn="l">
              <a:spcBef>
                <a:spcPts val="1200"/>
              </a:spcBef>
              <a:spcAft>
                <a:spcPts val="0"/>
              </a:spcAft>
              <a:buSzPts val="1200"/>
              <a:buChar char="●"/>
            </a:pPr>
            <a:r>
              <a:rPr b="1" lang="en" sz="1200">
                <a:solidFill>
                  <a:schemeClr val="accent1"/>
                </a:solidFill>
              </a:rPr>
              <a:t>FAISS-Based</a:t>
            </a:r>
            <a:r>
              <a:rPr lang="en" sz="1200"/>
              <a:t> Matchmaking</a:t>
            </a:r>
            <a:endParaRPr sz="1200"/>
          </a:p>
          <a:p>
            <a:pPr indent="-304800" lvl="1" marL="914400" rtl="0" algn="l">
              <a:spcBef>
                <a:spcPts val="0"/>
              </a:spcBef>
              <a:spcAft>
                <a:spcPts val="0"/>
              </a:spcAft>
              <a:buSzPts val="1200"/>
              <a:buChar char="○"/>
            </a:pPr>
            <a:r>
              <a:rPr lang="en" sz="1200"/>
              <a:t>Neighbors selected using simple euclidean distance</a:t>
            </a:r>
            <a:endParaRPr sz="1200"/>
          </a:p>
          <a:p>
            <a:pPr indent="-304800" lvl="1" marL="914400" rtl="0" algn="l">
              <a:spcBef>
                <a:spcPts val="0"/>
              </a:spcBef>
              <a:spcAft>
                <a:spcPts val="0"/>
              </a:spcAft>
              <a:buSzPts val="1200"/>
              <a:buChar char="○"/>
            </a:pPr>
            <a:r>
              <a:rPr lang="en" sz="1200"/>
              <a:t>For each workload seed:</a:t>
            </a:r>
            <a:endParaRPr sz="1200"/>
          </a:p>
          <a:p>
            <a:pPr indent="-304800" lvl="2" marL="1371600" rtl="0" algn="l">
              <a:spcBef>
                <a:spcPts val="0"/>
              </a:spcBef>
              <a:spcAft>
                <a:spcPts val="0"/>
              </a:spcAft>
              <a:buSzPts val="1200"/>
              <a:buChar char="■"/>
            </a:pPr>
            <a:r>
              <a:rPr lang="en" sz="1200"/>
              <a:t>picks its  nearest non-busy neighbors</a:t>
            </a:r>
            <a:endParaRPr sz="1200"/>
          </a:p>
          <a:p>
            <a:pPr indent="0" lvl="0" marL="0" rtl="0" algn="l">
              <a:spcBef>
                <a:spcPts val="1200"/>
              </a:spcBef>
              <a:spcAft>
                <a:spcPts val="0"/>
              </a:spcAft>
              <a:buNone/>
            </a:pPr>
            <a:r>
              <a:t/>
            </a:r>
            <a:endParaRPr sz="1200"/>
          </a:p>
          <a:p>
            <a:pPr indent="-304800" lvl="0" marL="457200" rtl="0" algn="l">
              <a:spcBef>
                <a:spcPts val="1200"/>
              </a:spcBef>
              <a:spcAft>
                <a:spcPts val="0"/>
              </a:spcAft>
              <a:buSzPts val="1200"/>
              <a:buChar char="●"/>
            </a:pPr>
            <a:r>
              <a:rPr b="1" lang="en" sz="1200">
                <a:solidFill>
                  <a:schemeClr val="accent1"/>
                </a:solidFill>
              </a:rPr>
              <a:t>Weighted FAISS</a:t>
            </a:r>
            <a:r>
              <a:rPr lang="en" sz="1200"/>
              <a:t> Matchmaking</a:t>
            </a:r>
            <a:endParaRPr sz="1200"/>
          </a:p>
          <a:p>
            <a:pPr indent="-304800" lvl="1" marL="914400" rtl="0" algn="l">
              <a:spcBef>
                <a:spcPts val="0"/>
              </a:spcBef>
              <a:spcAft>
                <a:spcPts val="0"/>
              </a:spcAft>
              <a:buSzPts val="1200"/>
              <a:buChar char="○"/>
            </a:pPr>
            <a:r>
              <a:rPr lang="en" sz="1200"/>
              <a:t>Much better grouping of:</a:t>
            </a:r>
            <a:endParaRPr sz="1200"/>
          </a:p>
          <a:p>
            <a:pPr indent="-304800" lvl="2" marL="1371600" rtl="0" algn="l">
              <a:spcBef>
                <a:spcPts val="0"/>
              </a:spcBef>
              <a:spcAft>
                <a:spcPts val="0"/>
              </a:spcAft>
              <a:buSzPts val="1200"/>
              <a:buChar char="■"/>
            </a:pPr>
            <a:r>
              <a:rPr lang="en" sz="1200"/>
              <a:t>similar skill, rank &amp; latency</a:t>
            </a:r>
            <a:endParaRPr sz="1200"/>
          </a:p>
          <a:p>
            <a:pPr indent="0" lvl="0" marL="0" rtl="0" algn="l">
              <a:spcBef>
                <a:spcPts val="1200"/>
              </a:spcBef>
              <a:spcAft>
                <a:spcPts val="0"/>
              </a:spcAft>
              <a:buNone/>
            </a:pPr>
            <a:br>
              <a:rPr lang="en" sz="1200">
                <a:solidFill>
                  <a:schemeClr val="dk1"/>
                </a:solidFill>
              </a:rPr>
            </a:br>
            <a:endParaRPr sz="1200">
              <a:solidFill>
                <a:schemeClr val="dk1"/>
              </a:solidFill>
            </a:endParaRPr>
          </a:p>
          <a:p>
            <a:pPr indent="0" lvl="0" marL="457200" rtl="0" algn="l">
              <a:spcBef>
                <a:spcPts val="1200"/>
              </a:spcBef>
              <a:spcAft>
                <a:spcPts val="1200"/>
              </a:spcAft>
              <a:buNone/>
            </a:pPr>
            <a:r>
              <a:t/>
            </a:r>
            <a:endParaRPr sz="1200"/>
          </a:p>
        </p:txBody>
      </p:sp>
      <p:sp>
        <p:nvSpPr>
          <p:cNvPr id="141" name="Google Shape;141;p24"/>
          <p:cNvSpPr txBox="1"/>
          <p:nvPr>
            <p:ph idx="4294967295" type="subTitle"/>
          </p:nvPr>
        </p:nvSpPr>
        <p:spPr>
          <a:xfrm>
            <a:off x="4319375" y="4807675"/>
            <a:ext cx="7117800" cy="295500"/>
          </a:xfrm>
          <a:prstGeom prst="rect">
            <a:avLst/>
          </a:prstGeom>
        </p:spPr>
        <p:txBody>
          <a:bodyPr anchorCtr="0" anchor="t" bIns="91425" lIns="91425" spcFirstLastPara="1" rIns="91425" wrap="square" tIns="91425">
            <a:normAutofit lnSpcReduction="10000"/>
          </a:bodyPr>
          <a:lstStyle/>
          <a:p>
            <a:pPr indent="0" lvl="0" marL="0" rtl="0" algn="l">
              <a:lnSpc>
                <a:spcPct val="80000"/>
              </a:lnSpc>
              <a:spcBef>
                <a:spcPts val="0"/>
              </a:spcBef>
              <a:spcAft>
                <a:spcPts val="1200"/>
              </a:spcAft>
              <a:buSzPts val="935"/>
              <a:buNone/>
            </a:pPr>
            <a:r>
              <a:rPr lang="en" sz="980"/>
              <a:t>Fariba Amiri, Sumaiya Azad, Shreeda Ghatpande, Jacob Hopkins &amp; Andy Herbert</a:t>
            </a:r>
            <a:endParaRPr sz="980"/>
          </a:p>
        </p:txBody>
      </p:sp>
      <p:sp>
        <p:nvSpPr>
          <p:cNvPr id="142" name="Google Shape;142;p24"/>
          <p:cNvSpPr txBox="1"/>
          <p:nvPr/>
        </p:nvSpPr>
        <p:spPr>
          <a:xfrm>
            <a:off x="8068325" y="4079500"/>
            <a:ext cx="4062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000">
              <a:solidFill>
                <a:schemeClr val="dk2"/>
              </a:solidFill>
            </a:endParaRPr>
          </a:p>
        </p:txBody>
      </p:sp>
      <p:sp>
        <p:nvSpPr>
          <p:cNvPr id="143" name="Google Shape;143;p24"/>
          <p:cNvSpPr txBox="1"/>
          <p:nvPr/>
        </p:nvSpPr>
        <p:spPr>
          <a:xfrm>
            <a:off x="4939800" y="1366800"/>
            <a:ext cx="4204200" cy="82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rPr>
              <a:t>    ➡️ Simple, fast</a:t>
            </a:r>
            <a:endParaRPr sz="1200">
              <a:solidFill>
                <a:schemeClr val="dk2"/>
              </a:solidFill>
            </a:endParaRPr>
          </a:p>
          <a:p>
            <a:pPr indent="0" lvl="0" marL="0" rtl="0" algn="l">
              <a:spcBef>
                <a:spcPts val="0"/>
              </a:spcBef>
              <a:spcAft>
                <a:spcPts val="0"/>
              </a:spcAft>
              <a:buNone/>
            </a:pPr>
            <a:r>
              <a:rPr lang="en" sz="1200">
                <a:solidFill>
                  <a:schemeClr val="dk2"/>
                </a:solidFill>
              </a:rPr>
              <a:t>    </a:t>
            </a:r>
            <a:r>
              <a:rPr lang="en" sz="1200">
                <a:solidFill>
                  <a:schemeClr val="dk2"/>
                </a:solidFill>
              </a:rPr>
              <a:t>➡️ </a:t>
            </a:r>
            <a:r>
              <a:rPr lang="en" sz="1200">
                <a:solidFill>
                  <a:schemeClr val="dk2"/>
                </a:solidFill>
              </a:rPr>
              <a:t>only arrival order matters</a:t>
            </a:r>
            <a:endParaRPr sz="1200">
              <a:solidFill>
                <a:schemeClr val="dk2"/>
              </a:solidFill>
            </a:endParaRPr>
          </a:p>
          <a:p>
            <a:pPr indent="0" lvl="0" marL="0" rtl="0" algn="l">
              <a:spcBef>
                <a:spcPts val="0"/>
              </a:spcBef>
              <a:spcAft>
                <a:spcPts val="0"/>
              </a:spcAft>
              <a:buNone/>
            </a:pPr>
            <a:r>
              <a:rPr lang="en" sz="1200">
                <a:solidFill>
                  <a:schemeClr val="dk2"/>
                </a:solidFill>
              </a:rPr>
              <a:t>    ➡️ extremely </a:t>
            </a:r>
            <a:r>
              <a:rPr b="1" lang="en" sz="1200">
                <a:solidFill>
                  <a:schemeClr val="accent1"/>
                </a:solidFill>
              </a:rPr>
              <a:t>low-quality</a:t>
            </a:r>
            <a:r>
              <a:rPr lang="en" sz="1200">
                <a:solidFill>
                  <a:schemeClr val="dk2"/>
                </a:solidFill>
              </a:rPr>
              <a:t> matches</a:t>
            </a:r>
            <a:endParaRPr sz="1200">
              <a:solidFill>
                <a:schemeClr val="dk2"/>
              </a:solidFill>
            </a:endParaRPr>
          </a:p>
          <a:p>
            <a:pPr indent="0" lvl="0" marL="0" rtl="0" algn="l">
              <a:spcBef>
                <a:spcPts val="0"/>
              </a:spcBef>
              <a:spcAft>
                <a:spcPts val="0"/>
              </a:spcAft>
              <a:buNone/>
            </a:pPr>
            <a:r>
              <a:rPr lang="en" sz="1200">
                <a:solidFill>
                  <a:schemeClr val="dk2"/>
                </a:solidFill>
              </a:rPr>
              <a:t>  </a:t>
            </a:r>
            <a:endParaRPr sz="1200">
              <a:solidFill>
                <a:schemeClr val="dk2"/>
              </a:solidFill>
            </a:endParaRPr>
          </a:p>
          <a:p>
            <a:pPr indent="0" lvl="0" marL="0" rtl="0" algn="l">
              <a:spcBef>
                <a:spcPts val="0"/>
              </a:spcBef>
              <a:spcAft>
                <a:spcPts val="0"/>
              </a:spcAft>
              <a:buNone/>
            </a:pPr>
            <a:r>
              <a:t/>
            </a:r>
            <a:endParaRPr sz="1800">
              <a:solidFill>
                <a:schemeClr val="dk2"/>
              </a:solidFill>
            </a:endParaRPr>
          </a:p>
        </p:txBody>
      </p:sp>
      <p:sp>
        <p:nvSpPr>
          <p:cNvPr id="144" name="Google Shape;144;p24"/>
          <p:cNvSpPr txBox="1"/>
          <p:nvPr/>
        </p:nvSpPr>
        <p:spPr>
          <a:xfrm>
            <a:off x="4939800" y="2849162"/>
            <a:ext cx="34392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2"/>
                </a:solidFill>
              </a:rPr>
              <a:t>    ➡️ Distance purely based on raw attributes</a:t>
            </a:r>
            <a:endParaRPr sz="1200">
              <a:solidFill>
                <a:schemeClr val="dk2"/>
              </a:solidFill>
            </a:endParaRPr>
          </a:p>
          <a:p>
            <a:pPr indent="0" lvl="0" marL="0" rtl="0" algn="l">
              <a:spcBef>
                <a:spcPts val="0"/>
              </a:spcBef>
              <a:spcAft>
                <a:spcPts val="0"/>
              </a:spcAft>
              <a:buClr>
                <a:schemeClr val="dk1"/>
              </a:buClr>
              <a:buSzPts val="1100"/>
              <a:buFont typeface="Arial"/>
              <a:buNone/>
            </a:pPr>
            <a:r>
              <a:rPr lang="en" sz="1200">
                <a:solidFill>
                  <a:schemeClr val="dk2"/>
                </a:solidFill>
              </a:rPr>
              <a:t>    ➡️ </a:t>
            </a:r>
            <a:r>
              <a:rPr lang="en" sz="1100">
                <a:solidFill>
                  <a:schemeClr val="dk1"/>
                </a:solidFill>
              </a:rPr>
              <a:t>Produces </a:t>
            </a:r>
            <a:r>
              <a:rPr b="1" lang="en" sz="1100">
                <a:solidFill>
                  <a:schemeClr val="accent1"/>
                </a:solidFill>
              </a:rPr>
              <a:t>moderate-quality</a:t>
            </a:r>
            <a:r>
              <a:rPr lang="en" sz="1100">
                <a:solidFill>
                  <a:schemeClr val="dk1"/>
                </a:solidFill>
              </a:rPr>
              <a:t> matches</a:t>
            </a:r>
            <a:endParaRPr sz="1200">
              <a:solidFill>
                <a:schemeClr val="dk2"/>
              </a:solidFill>
            </a:endParaRPr>
          </a:p>
        </p:txBody>
      </p:sp>
      <p:sp>
        <p:nvSpPr>
          <p:cNvPr id="145" name="Google Shape;145;p24"/>
          <p:cNvSpPr txBox="1"/>
          <p:nvPr/>
        </p:nvSpPr>
        <p:spPr>
          <a:xfrm>
            <a:off x="4939800" y="4141975"/>
            <a:ext cx="3701400" cy="66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2"/>
                </a:solidFill>
              </a:rPr>
              <a:t>    ➡️ Simulates an intelligent, optimized coordinator</a:t>
            </a:r>
            <a:endParaRPr sz="1200">
              <a:solidFill>
                <a:schemeClr val="dk2"/>
              </a:solidFill>
            </a:endParaRPr>
          </a:p>
          <a:p>
            <a:pPr indent="0" lvl="0" marL="0" rtl="0" algn="l">
              <a:spcBef>
                <a:spcPts val="0"/>
              </a:spcBef>
              <a:spcAft>
                <a:spcPts val="0"/>
              </a:spcAft>
              <a:buClr>
                <a:schemeClr val="dk1"/>
              </a:buClr>
              <a:buSzPts val="1100"/>
              <a:buFont typeface="Arial"/>
              <a:buNone/>
            </a:pPr>
            <a:r>
              <a:rPr lang="en" sz="1200">
                <a:solidFill>
                  <a:schemeClr val="dk2"/>
                </a:solidFill>
              </a:rPr>
              <a:t>    ➡️ </a:t>
            </a:r>
            <a:r>
              <a:rPr lang="en" sz="1100">
                <a:solidFill>
                  <a:schemeClr val="dk1"/>
                </a:solidFill>
              </a:rPr>
              <a:t>Produces </a:t>
            </a:r>
            <a:r>
              <a:rPr b="1" lang="en" sz="1100">
                <a:solidFill>
                  <a:schemeClr val="accent1"/>
                </a:solidFill>
              </a:rPr>
              <a:t>higher-quality, fairer</a:t>
            </a:r>
            <a:r>
              <a:rPr lang="en" sz="1100">
                <a:solidFill>
                  <a:schemeClr val="dk1"/>
                </a:solidFill>
              </a:rPr>
              <a:t> matches</a:t>
            </a:r>
            <a:endParaRPr sz="1200">
              <a:solidFill>
                <a:schemeClr val="dk2"/>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Server Shard:</a:t>
            </a:r>
            <a:r>
              <a:rPr lang="en"/>
              <a:t> What It Is</a:t>
            </a:r>
            <a:endParaRPr/>
          </a:p>
          <a:p>
            <a:pPr indent="0" lvl="0" marL="0" rtl="0" algn="l">
              <a:spcBef>
                <a:spcPts val="0"/>
              </a:spcBef>
              <a:spcAft>
                <a:spcPts val="0"/>
              </a:spcAft>
              <a:buNone/>
            </a:pPr>
            <a:r>
              <a:t/>
            </a:r>
            <a:endParaRPr/>
          </a:p>
        </p:txBody>
      </p:sp>
      <p:sp>
        <p:nvSpPr>
          <p:cNvPr id="151" name="Google Shape;151;p2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1400"/>
              </a:spcBef>
              <a:spcAft>
                <a:spcPts val="0"/>
              </a:spcAft>
              <a:buNone/>
            </a:pPr>
            <a:r>
              <a:rPr b="1" lang="en" sz="1300">
                <a:solidFill>
                  <a:schemeClr val="dk1"/>
                </a:solidFill>
              </a:rPr>
              <a:t>Server Shard (Regional Matchmaking Engine)</a:t>
            </a:r>
            <a:endParaRPr sz="1100">
              <a:solidFill>
                <a:schemeClr val="dk1"/>
              </a:solidFill>
            </a:endParaRPr>
          </a:p>
          <a:p>
            <a:pPr indent="-292100" lvl="0" marL="457200" rtl="0" algn="l">
              <a:lnSpc>
                <a:spcPct val="200000"/>
              </a:lnSpc>
              <a:spcBef>
                <a:spcPts val="1200"/>
              </a:spcBef>
              <a:spcAft>
                <a:spcPts val="0"/>
              </a:spcAft>
              <a:buClr>
                <a:schemeClr val="dk1"/>
              </a:buClr>
              <a:buSzPts val="1000"/>
              <a:buChar char="●"/>
            </a:pPr>
            <a:r>
              <a:rPr lang="en" sz="1100">
                <a:solidFill>
                  <a:schemeClr val="dk1"/>
                </a:solidFill>
              </a:rPr>
              <a:t>Loads all players for </a:t>
            </a:r>
            <a:r>
              <a:rPr b="1" lang="en" sz="1100">
                <a:solidFill>
                  <a:schemeClr val="dk1"/>
                </a:solidFill>
              </a:rPr>
              <a:t>one region</a:t>
            </a:r>
            <a:r>
              <a:rPr lang="en" sz="1100">
                <a:solidFill>
                  <a:schemeClr val="dk1"/>
                </a:solidFill>
              </a:rPr>
              <a:t> (e.g., NA)</a:t>
            </a:r>
            <a:endParaRPr sz="1100">
              <a:solidFill>
                <a:schemeClr val="dk1"/>
              </a:solidFill>
            </a:endParaRPr>
          </a:p>
          <a:p>
            <a:pPr indent="-292100" lvl="0" marL="457200" rtl="0" algn="l">
              <a:lnSpc>
                <a:spcPct val="200000"/>
              </a:lnSpc>
              <a:spcBef>
                <a:spcPts val="0"/>
              </a:spcBef>
              <a:spcAft>
                <a:spcPts val="0"/>
              </a:spcAft>
              <a:buClr>
                <a:schemeClr val="dk1"/>
              </a:buClr>
              <a:buSzPts val="1000"/>
              <a:buChar char="●"/>
            </a:pPr>
            <a:r>
              <a:rPr lang="en" sz="1100">
                <a:solidFill>
                  <a:schemeClr val="dk1"/>
                </a:solidFill>
              </a:rPr>
              <a:t>Converts players into vectors</a:t>
            </a:r>
            <a:endParaRPr sz="1100">
              <a:solidFill>
                <a:schemeClr val="dk1"/>
              </a:solidFill>
            </a:endParaRPr>
          </a:p>
          <a:p>
            <a:pPr indent="-292100" lvl="0" marL="457200" rtl="0" algn="l">
              <a:lnSpc>
                <a:spcPct val="200000"/>
              </a:lnSpc>
              <a:spcBef>
                <a:spcPts val="0"/>
              </a:spcBef>
              <a:spcAft>
                <a:spcPts val="0"/>
              </a:spcAft>
              <a:buClr>
                <a:schemeClr val="dk1"/>
              </a:buClr>
              <a:buSzPts val="1000"/>
              <a:buChar char="●"/>
            </a:pPr>
            <a:r>
              <a:rPr lang="en" sz="1100">
                <a:solidFill>
                  <a:schemeClr val="dk1"/>
                </a:solidFill>
              </a:rPr>
              <a:t>Builds a FAISS index</a:t>
            </a:r>
            <a:endParaRPr sz="1100">
              <a:solidFill>
                <a:schemeClr val="dk1"/>
              </a:solidFill>
            </a:endParaRPr>
          </a:p>
          <a:p>
            <a:pPr indent="-292100" lvl="0" marL="457200" rtl="0" algn="l">
              <a:lnSpc>
                <a:spcPct val="200000"/>
              </a:lnSpc>
              <a:spcBef>
                <a:spcPts val="0"/>
              </a:spcBef>
              <a:spcAft>
                <a:spcPts val="0"/>
              </a:spcAft>
              <a:buClr>
                <a:schemeClr val="dk1"/>
              </a:buClr>
              <a:buSzPts val="1000"/>
              <a:buChar char="●"/>
            </a:pPr>
            <a:r>
              <a:rPr lang="en" sz="1100">
                <a:solidFill>
                  <a:schemeClr val="dk1"/>
                </a:solidFill>
              </a:rPr>
              <a:t>Manages a subset of players marked </a:t>
            </a:r>
            <a:r>
              <a:rPr b="1" lang="en" sz="1100">
                <a:solidFill>
                  <a:schemeClr val="dk1"/>
                </a:solidFill>
              </a:rPr>
              <a:t>online</a:t>
            </a:r>
            <a:endParaRPr b="1" sz="1100">
              <a:solidFill>
                <a:schemeClr val="dk1"/>
              </a:solidFill>
            </a:endParaRPr>
          </a:p>
          <a:p>
            <a:pPr indent="-292100" lvl="0" marL="457200" rtl="0" algn="l">
              <a:lnSpc>
                <a:spcPct val="200000"/>
              </a:lnSpc>
              <a:spcBef>
                <a:spcPts val="0"/>
              </a:spcBef>
              <a:spcAft>
                <a:spcPts val="0"/>
              </a:spcAft>
              <a:buClr>
                <a:schemeClr val="dk1"/>
              </a:buClr>
              <a:buSzPts val="1000"/>
              <a:buChar char="●"/>
            </a:pPr>
            <a:r>
              <a:rPr lang="en" sz="1100">
                <a:solidFill>
                  <a:schemeClr val="dk1"/>
                </a:solidFill>
              </a:rPr>
              <a:t>Keeps track of players locked in a match (</a:t>
            </a:r>
            <a:r>
              <a:rPr b="1" lang="en" sz="1100">
                <a:solidFill>
                  <a:schemeClr val="dk1"/>
                </a:solidFill>
              </a:rPr>
              <a:t>busy</a:t>
            </a:r>
            <a:r>
              <a:rPr lang="en" sz="1100">
                <a:solidFill>
                  <a:schemeClr val="dk1"/>
                </a:solidFill>
              </a:rPr>
              <a:t>)</a:t>
            </a:r>
            <a:endParaRPr sz="1100">
              <a:solidFill>
                <a:schemeClr val="dk1"/>
              </a:solidFill>
            </a:endParaRPr>
          </a:p>
          <a:p>
            <a:pPr indent="-292100" lvl="0" marL="457200" rtl="0" algn="l">
              <a:lnSpc>
                <a:spcPct val="200000"/>
              </a:lnSpc>
              <a:spcBef>
                <a:spcPts val="0"/>
              </a:spcBef>
              <a:spcAft>
                <a:spcPts val="0"/>
              </a:spcAft>
              <a:buClr>
                <a:schemeClr val="dk1"/>
              </a:buClr>
              <a:buSzPts val="1000"/>
              <a:buChar char="●"/>
            </a:pPr>
            <a:r>
              <a:rPr lang="en" sz="1100">
                <a:solidFill>
                  <a:schemeClr val="dk1"/>
                </a:solidFill>
              </a:rPr>
              <a:t>Answers similarity queries from the coordinator</a:t>
            </a:r>
            <a:endParaRPr sz="1100">
              <a:solidFill>
                <a:schemeClr val="dk1"/>
              </a:solidFill>
            </a:endParaRPr>
          </a:p>
          <a:p>
            <a:pPr indent="-292100" lvl="0" marL="457200" rtl="0" algn="l">
              <a:lnSpc>
                <a:spcPct val="200000"/>
              </a:lnSpc>
              <a:spcBef>
                <a:spcPts val="0"/>
              </a:spcBef>
              <a:spcAft>
                <a:spcPts val="0"/>
              </a:spcAft>
              <a:buClr>
                <a:schemeClr val="dk1"/>
              </a:buClr>
              <a:buSzPts val="1000"/>
              <a:buChar char="●"/>
            </a:pPr>
            <a:r>
              <a:rPr lang="en" sz="1100">
                <a:solidFill>
                  <a:schemeClr val="dk1"/>
                </a:solidFill>
              </a:rPr>
              <a:t>Exposes gRPC APIs: </a:t>
            </a:r>
            <a:r>
              <a:rPr lang="en" sz="1100">
                <a:solidFill>
                  <a:srgbClr val="188038"/>
                </a:solidFill>
                <a:latin typeface="Roboto Mono"/>
                <a:ea typeface="Roboto Mono"/>
                <a:cs typeface="Roboto Mono"/>
                <a:sym typeface="Roboto Mono"/>
              </a:rPr>
              <a:t>RequestPlayers</a:t>
            </a:r>
            <a:r>
              <a:rPr lang="en" sz="1100">
                <a:solidFill>
                  <a:schemeClr val="dk1"/>
                </a:solidFill>
              </a:rPr>
              <a:t> and </a:t>
            </a:r>
            <a:r>
              <a:rPr lang="en" sz="1100">
                <a:solidFill>
                  <a:srgbClr val="188038"/>
                </a:solidFill>
                <a:latin typeface="Roboto Mono"/>
                <a:ea typeface="Roboto Mono"/>
                <a:cs typeface="Roboto Mono"/>
                <a:sym typeface="Roboto Mono"/>
              </a:rPr>
              <a:t>ConfirmToMatch</a:t>
            </a:r>
            <a:endParaRPr b="1" sz="1000">
              <a:solidFill>
                <a:schemeClr val="dk1"/>
              </a:solidFill>
            </a:endParaRPr>
          </a:p>
          <a:p>
            <a:pPr indent="0" lvl="0" marL="457200" rtl="0" algn="l">
              <a:lnSpc>
                <a:spcPct val="200000"/>
              </a:lnSpc>
              <a:spcBef>
                <a:spcPts val="1200"/>
              </a:spcBef>
              <a:spcAft>
                <a:spcPts val="1200"/>
              </a:spcAft>
              <a:buNone/>
            </a:pPr>
            <a:r>
              <a:t/>
            </a:r>
            <a:endParaRPr b="1" sz="1000">
              <a:solidFill>
                <a:schemeClr val="dk1"/>
              </a:solidFill>
            </a:endParaRPr>
          </a:p>
        </p:txBody>
      </p:sp>
      <p:sp>
        <p:nvSpPr>
          <p:cNvPr id="152" name="Google Shape;152;p25"/>
          <p:cNvSpPr txBox="1"/>
          <p:nvPr>
            <p:ph idx="4294967295" type="subTitle"/>
          </p:nvPr>
        </p:nvSpPr>
        <p:spPr>
          <a:xfrm>
            <a:off x="4339550" y="4703625"/>
            <a:ext cx="7117800" cy="295500"/>
          </a:xfrm>
          <a:prstGeom prst="rect">
            <a:avLst/>
          </a:prstGeom>
        </p:spPr>
        <p:txBody>
          <a:bodyPr anchorCtr="0" anchor="t" bIns="91425" lIns="91425" spcFirstLastPara="1" rIns="91425" wrap="square" tIns="91425">
            <a:normAutofit lnSpcReduction="10000"/>
          </a:bodyPr>
          <a:lstStyle/>
          <a:p>
            <a:pPr indent="0" lvl="0" marL="0" rtl="0" algn="l">
              <a:lnSpc>
                <a:spcPct val="80000"/>
              </a:lnSpc>
              <a:spcBef>
                <a:spcPts val="0"/>
              </a:spcBef>
              <a:spcAft>
                <a:spcPts val="1200"/>
              </a:spcAft>
              <a:buSzPts val="935"/>
              <a:buNone/>
            </a:pPr>
            <a:r>
              <a:rPr lang="en" sz="980"/>
              <a:t>Fariba Amiri, Sumaiya Azad, Shreeda Ghatpande, Jacob Hopkins &amp; Andy Herbert</a:t>
            </a:r>
            <a:endParaRPr sz="980"/>
          </a:p>
        </p:txBody>
      </p:sp>
      <p:pic>
        <p:nvPicPr>
          <p:cNvPr id="153" name="Google Shape;153;p25" title="final.drawio.png"/>
          <p:cNvPicPr preferRelativeResize="0"/>
          <p:nvPr/>
        </p:nvPicPr>
        <p:blipFill>
          <a:blip r:embed="rId3">
            <a:alphaModFix/>
          </a:blip>
          <a:stretch>
            <a:fillRect/>
          </a:stretch>
        </p:blipFill>
        <p:spPr>
          <a:xfrm>
            <a:off x="5008300" y="1643024"/>
            <a:ext cx="3748600" cy="21351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Server Shard:</a:t>
            </a:r>
            <a:r>
              <a:rPr lang="en"/>
              <a:t> What It Does</a:t>
            </a:r>
            <a:endParaRPr/>
          </a:p>
          <a:p>
            <a:pPr indent="0" lvl="0" marL="0" rtl="0" algn="l">
              <a:spcBef>
                <a:spcPts val="0"/>
              </a:spcBef>
              <a:spcAft>
                <a:spcPts val="0"/>
              </a:spcAft>
              <a:buNone/>
            </a:pPr>
            <a:r>
              <a:t/>
            </a:r>
            <a:endParaRPr/>
          </a:p>
        </p:txBody>
      </p:sp>
      <p:sp>
        <p:nvSpPr>
          <p:cNvPr id="159" name="Google Shape;159;p2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1400"/>
              </a:spcBef>
              <a:spcAft>
                <a:spcPts val="0"/>
              </a:spcAft>
              <a:buClr>
                <a:schemeClr val="dk1"/>
              </a:buClr>
              <a:buSzPts val="1100"/>
              <a:buFont typeface="Arial"/>
              <a:buNone/>
            </a:pPr>
            <a:r>
              <a:rPr b="1" lang="en" sz="1300">
                <a:solidFill>
                  <a:schemeClr val="dk1"/>
                </a:solidFill>
              </a:rPr>
              <a:t>Runtime Behavior</a:t>
            </a:r>
            <a:endParaRPr b="1" sz="1300">
              <a:solidFill>
                <a:schemeClr val="dk1"/>
              </a:solidFill>
            </a:endParaRPr>
          </a:p>
          <a:p>
            <a:pPr indent="-298450" lvl="0" marL="457200" rtl="0" algn="l">
              <a:lnSpc>
                <a:spcPct val="200000"/>
              </a:lnSpc>
              <a:spcBef>
                <a:spcPts val="1200"/>
              </a:spcBef>
              <a:spcAft>
                <a:spcPts val="0"/>
              </a:spcAft>
              <a:buClr>
                <a:schemeClr val="dk1"/>
              </a:buClr>
              <a:buSzPts val="1100"/>
              <a:buChar char="●"/>
            </a:pPr>
            <a:r>
              <a:rPr lang="en" sz="1100">
                <a:solidFill>
                  <a:schemeClr val="dk1"/>
                </a:solidFill>
              </a:rPr>
              <a:t>Receives a query vector → performs FAISS nearest-neighbor search</a:t>
            </a:r>
            <a:endParaRPr sz="1100">
              <a:solidFill>
                <a:schemeClr val="dk1"/>
              </a:solidFill>
            </a:endParaRPr>
          </a:p>
          <a:p>
            <a:pPr indent="-298450" lvl="0" marL="457200" rtl="0" algn="l">
              <a:lnSpc>
                <a:spcPct val="200000"/>
              </a:lnSpc>
              <a:spcBef>
                <a:spcPts val="0"/>
              </a:spcBef>
              <a:spcAft>
                <a:spcPts val="0"/>
              </a:spcAft>
              <a:buClr>
                <a:schemeClr val="dk1"/>
              </a:buClr>
              <a:buSzPts val="1100"/>
              <a:buChar char="●"/>
            </a:pPr>
            <a:r>
              <a:rPr lang="en" sz="1100">
                <a:solidFill>
                  <a:schemeClr val="dk1"/>
                </a:solidFill>
              </a:rPr>
              <a:t>Filters results based on:</a:t>
            </a:r>
            <a:endParaRPr sz="1100">
              <a:solidFill>
                <a:schemeClr val="dk1"/>
              </a:solidFill>
            </a:endParaRPr>
          </a:p>
          <a:p>
            <a:pPr indent="-298450" lvl="1" marL="914400" rtl="0" algn="l">
              <a:lnSpc>
                <a:spcPct val="200000"/>
              </a:lnSpc>
              <a:spcBef>
                <a:spcPts val="0"/>
              </a:spcBef>
              <a:spcAft>
                <a:spcPts val="0"/>
              </a:spcAft>
              <a:buClr>
                <a:schemeClr val="dk1"/>
              </a:buClr>
              <a:buSzPts val="1100"/>
              <a:buChar char="○"/>
            </a:pPr>
            <a:r>
              <a:rPr b="1" lang="en" sz="1100">
                <a:solidFill>
                  <a:schemeClr val="dk1"/>
                </a:solidFill>
              </a:rPr>
              <a:t>Online</a:t>
            </a:r>
            <a:r>
              <a:rPr lang="en" sz="1100">
                <a:solidFill>
                  <a:schemeClr val="dk1"/>
                </a:solidFill>
              </a:rPr>
              <a:t> status</a:t>
            </a:r>
            <a:endParaRPr sz="1100">
              <a:solidFill>
                <a:schemeClr val="dk1"/>
              </a:solidFill>
            </a:endParaRPr>
          </a:p>
          <a:p>
            <a:pPr indent="-298450" lvl="1" marL="914400" rtl="0" algn="l">
              <a:lnSpc>
                <a:spcPct val="200000"/>
              </a:lnSpc>
              <a:spcBef>
                <a:spcPts val="0"/>
              </a:spcBef>
              <a:spcAft>
                <a:spcPts val="0"/>
              </a:spcAft>
              <a:buClr>
                <a:schemeClr val="dk1"/>
              </a:buClr>
              <a:buSzPts val="1100"/>
              <a:buChar char="○"/>
            </a:pPr>
            <a:r>
              <a:rPr b="1" lang="en" sz="1100">
                <a:solidFill>
                  <a:schemeClr val="dk1"/>
                </a:solidFill>
              </a:rPr>
              <a:t>Not busy</a:t>
            </a:r>
            <a:r>
              <a:rPr lang="en" sz="1100">
                <a:solidFill>
                  <a:schemeClr val="dk1"/>
                </a:solidFill>
              </a:rPr>
              <a:t> (not already matched)</a:t>
            </a:r>
            <a:endParaRPr sz="1100">
              <a:solidFill>
                <a:schemeClr val="dk1"/>
              </a:solidFill>
            </a:endParaRPr>
          </a:p>
          <a:p>
            <a:pPr indent="-298450" lvl="0" marL="457200" rtl="0" algn="l">
              <a:lnSpc>
                <a:spcPct val="200000"/>
              </a:lnSpc>
              <a:spcBef>
                <a:spcPts val="0"/>
              </a:spcBef>
              <a:spcAft>
                <a:spcPts val="0"/>
              </a:spcAft>
              <a:buClr>
                <a:schemeClr val="dk1"/>
              </a:buClr>
              <a:buSzPts val="1100"/>
              <a:buChar char="●"/>
            </a:pPr>
            <a:r>
              <a:rPr lang="en" sz="1100">
                <a:solidFill>
                  <a:schemeClr val="dk1"/>
                </a:solidFill>
              </a:rPr>
              <a:t>Returns best available players for that region</a:t>
            </a:r>
            <a:endParaRPr sz="1100">
              <a:solidFill>
                <a:schemeClr val="dk1"/>
              </a:solidFill>
            </a:endParaRPr>
          </a:p>
          <a:p>
            <a:pPr indent="-298450" lvl="0" marL="457200" rtl="0" algn="l">
              <a:lnSpc>
                <a:spcPct val="200000"/>
              </a:lnSpc>
              <a:spcBef>
                <a:spcPts val="0"/>
              </a:spcBef>
              <a:spcAft>
                <a:spcPts val="0"/>
              </a:spcAft>
              <a:buClr>
                <a:schemeClr val="dk1"/>
              </a:buClr>
              <a:buSzPts val="1100"/>
              <a:buChar char="●"/>
            </a:pPr>
            <a:r>
              <a:rPr lang="en" sz="1100">
                <a:solidFill>
                  <a:schemeClr val="dk1"/>
                </a:solidFill>
              </a:rPr>
              <a:t>Supports locking:</a:t>
            </a:r>
            <a:endParaRPr sz="1100">
              <a:solidFill>
                <a:schemeClr val="dk1"/>
              </a:solidFill>
            </a:endParaRPr>
          </a:p>
          <a:p>
            <a:pPr indent="-298450" lvl="1" marL="914400" rtl="0" algn="l">
              <a:lnSpc>
                <a:spcPct val="200000"/>
              </a:lnSpc>
              <a:spcBef>
                <a:spcPts val="0"/>
              </a:spcBef>
              <a:spcAft>
                <a:spcPts val="0"/>
              </a:spcAft>
              <a:buClr>
                <a:schemeClr val="dk1"/>
              </a:buClr>
              <a:buSzPts val="1100"/>
              <a:buChar char="○"/>
            </a:pPr>
            <a:r>
              <a:rPr lang="en" sz="1100">
                <a:solidFill>
                  <a:schemeClr val="accent1"/>
                </a:solidFill>
                <a:latin typeface="Roboto Mono"/>
                <a:ea typeface="Roboto Mono"/>
                <a:cs typeface="Roboto Mono"/>
                <a:sym typeface="Roboto Mono"/>
              </a:rPr>
              <a:t>ConfirmToMatch()</a:t>
            </a:r>
            <a:r>
              <a:rPr lang="en" sz="1100">
                <a:solidFill>
                  <a:schemeClr val="dk1"/>
                </a:solidFill>
              </a:rPr>
              <a:t> marks selected players as </a:t>
            </a:r>
            <a:r>
              <a:rPr b="1" lang="en" sz="1100">
                <a:solidFill>
                  <a:schemeClr val="dk1"/>
                </a:solidFill>
              </a:rPr>
              <a:t>busy</a:t>
            </a:r>
            <a:endParaRPr b="1" sz="1100">
              <a:solidFill>
                <a:schemeClr val="dk1"/>
              </a:solidFill>
            </a:endParaRPr>
          </a:p>
          <a:p>
            <a:pPr indent="-298450" lvl="0" marL="457200" rtl="0" algn="l">
              <a:lnSpc>
                <a:spcPct val="200000"/>
              </a:lnSpc>
              <a:spcBef>
                <a:spcPts val="0"/>
              </a:spcBef>
              <a:spcAft>
                <a:spcPts val="0"/>
              </a:spcAft>
              <a:buClr>
                <a:schemeClr val="dk1"/>
              </a:buClr>
              <a:buSzPts val="1100"/>
              <a:buChar char="●"/>
            </a:pPr>
            <a:r>
              <a:rPr lang="en" sz="1100">
                <a:solidFill>
                  <a:schemeClr val="dk1"/>
                </a:solidFill>
              </a:rPr>
              <a:t>Runs a background process that </a:t>
            </a:r>
            <a:r>
              <a:rPr b="1" lang="en" sz="1100">
                <a:solidFill>
                  <a:schemeClr val="dk1"/>
                </a:solidFill>
              </a:rPr>
              <a:t>reshuffles online players</a:t>
            </a:r>
            <a:r>
              <a:rPr lang="en" sz="1100">
                <a:solidFill>
                  <a:schemeClr val="dk1"/>
                </a:solidFill>
              </a:rPr>
              <a:t> to simulate logins/logouts</a:t>
            </a:r>
            <a:endParaRPr b="1" sz="1100">
              <a:solidFill>
                <a:schemeClr val="dk1"/>
              </a:solidFill>
            </a:endParaRPr>
          </a:p>
        </p:txBody>
      </p:sp>
      <p:sp>
        <p:nvSpPr>
          <p:cNvPr id="160" name="Google Shape;160;p26"/>
          <p:cNvSpPr txBox="1"/>
          <p:nvPr>
            <p:ph idx="4294967295" type="subTitle"/>
          </p:nvPr>
        </p:nvSpPr>
        <p:spPr>
          <a:xfrm>
            <a:off x="4339550" y="4703625"/>
            <a:ext cx="7117800" cy="295500"/>
          </a:xfrm>
          <a:prstGeom prst="rect">
            <a:avLst/>
          </a:prstGeom>
        </p:spPr>
        <p:txBody>
          <a:bodyPr anchorCtr="0" anchor="t" bIns="91425" lIns="91425" spcFirstLastPara="1" rIns="91425" wrap="square" tIns="91425">
            <a:normAutofit lnSpcReduction="10000"/>
          </a:bodyPr>
          <a:lstStyle/>
          <a:p>
            <a:pPr indent="0" lvl="0" marL="0" rtl="0" algn="l">
              <a:lnSpc>
                <a:spcPct val="80000"/>
              </a:lnSpc>
              <a:spcBef>
                <a:spcPts val="0"/>
              </a:spcBef>
              <a:spcAft>
                <a:spcPts val="1200"/>
              </a:spcAft>
              <a:buSzPts val="935"/>
              <a:buNone/>
            </a:pPr>
            <a:r>
              <a:rPr lang="en" sz="980"/>
              <a:t>Fariba Amiri, Sumaiya Azad, Shreeda Ghatpande, Jacob Hopkins &amp; Andy Herbert</a:t>
            </a:r>
            <a:endParaRPr sz="980"/>
          </a:p>
        </p:txBody>
      </p:sp>
      <p:pic>
        <p:nvPicPr>
          <p:cNvPr id="161" name="Google Shape;161;p26" title="final.drawio.png"/>
          <p:cNvPicPr preferRelativeResize="0"/>
          <p:nvPr/>
        </p:nvPicPr>
        <p:blipFill>
          <a:blip r:embed="rId3">
            <a:alphaModFix/>
          </a:blip>
          <a:stretch>
            <a:fillRect/>
          </a:stretch>
        </p:blipFill>
        <p:spPr>
          <a:xfrm>
            <a:off x="5038200" y="1700200"/>
            <a:ext cx="3721226" cy="21195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Results / Analysis</a:t>
            </a:r>
            <a:endParaRPr/>
          </a:p>
        </p:txBody>
      </p:sp>
      <p:sp>
        <p:nvSpPr>
          <p:cNvPr id="167" name="Google Shape;167;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How do we Measure Quality?</a:t>
            </a:r>
            <a:endParaRPr/>
          </a:p>
          <a:p>
            <a:pPr indent="0" lvl="0" marL="0" rtl="0" algn="l">
              <a:spcBef>
                <a:spcPts val="1200"/>
              </a:spcBef>
              <a:spcAft>
                <a:spcPts val="0"/>
              </a:spcAft>
              <a:buNone/>
            </a:pPr>
            <a:r>
              <a:rPr lang="en"/>
              <a:t>What attributes are important?</a:t>
            </a:r>
            <a:endParaRPr/>
          </a:p>
          <a:p>
            <a:pPr indent="0" lvl="0" marL="0" rtl="0" algn="l">
              <a:spcBef>
                <a:spcPts val="1200"/>
              </a:spcBef>
              <a:spcAft>
                <a:spcPts val="1200"/>
              </a:spcAft>
              <a:buNone/>
            </a:pPr>
            <a:r>
              <a:rPr lang="en"/>
              <a:t>FIFO baseline</a:t>
            </a:r>
            <a:endParaRPr/>
          </a:p>
        </p:txBody>
      </p:sp>
      <p:sp>
        <p:nvSpPr>
          <p:cNvPr id="168" name="Google Shape;168;p27"/>
          <p:cNvSpPr txBox="1"/>
          <p:nvPr>
            <p:ph idx="4294967295" type="subTitle"/>
          </p:nvPr>
        </p:nvSpPr>
        <p:spPr>
          <a:xfrm>
            <a:off x="4339550" y="4703625"/>
            <a:ext cx="7117800" cy="295500"/>
          </a:xfrm>
          <a:prstGeom prst="rect">
            <a:avLst/>
          </a:prstGeom>
        </p:spPr>
        <p:txBody>
          <a:bodyPr anchorCtr="0" anchor="t" bIns="91425" lIns="91425" spcFirstLastPara="1" rIns="91425" wrap="square" tIns="91425">
            <a:normAutofit lnSpcReduction="10000"/>
          </a:bodyPr>
          <a:lstStyle/>
          <a:p>
            <a:pPr indent="0" lvl="0" marL="0" rtl="0" algn="l">
              <a:lnSpc>
                <a:spcPct val="80000"/>
              </a:lnSpc>
              <a:spcBef>
                <a:spcPts val="0"/>
              </a:spcBef>
              <a:spcAft>
                <a:spcPts val="1200"/>
              </a:spcAft>
              <a:buSzPts val="935"/>
              <a:buNone/>
            </a:pPr>
            <a:r>
              <a:rPr lang="en" sz="980"/>
              <a:t>Fariba Amiri, Sumaiya Azad, Shreeda Ghatpande, </a:t>
            </a:r>
            <a:r>
              <a:rPr b="1" lang="en" sz="980"/>
              <a:t>Jacob Hopkins </a:t>
            </a:r>
            <a:r>
              <a:rPr lang="en" sz="980"/>
              <a:t>&amp; Andy Herbert</a:t>
            </a:r>
            <a:endParaRPr sz="980"/>
          </a:p>
        </p:txBody>
      </p:sp>
      <p:pic>
        <p:nvPicPr>
          <p:cNvPr id="169" name="Google Shape;169;p27"/>
          <p:cNvPicPr preferRelativeResize="0"/>
          <p:nvPr/>
        </p:nvPicPr>
        <p:blipFill>
          <a:blip r:embed="rId3">
            <a:alphaModFix/>
          </a:blip>
          <a:stretch>
            <a:fillRect/>
          </a:stretch>
        </p:blipFill>
        <p:spPr>
          <a:xfrm>
            <a:off x="5018797" y="793897"/>
            <a:ext cx="3137175" cy="2560225"/>
          </a:xfrm>
          <a:prstGeom prst="rect">
            <a:avLst/>
          </a:prstGeom>
          <a:noFill/>
          <a:ln>
            <a:noFill/>
          </a:ln>
        </p:spPr>
      </p:pic>
      <p:sp>
        <p:nvSpPr>
          <p:cNvPr id="170" name="Google Shape;170;p27"/>
          <p:cNvSpPr txBox="1"/>
          <p:nvPr/>
        </p:nvSpPr>
        <p:spPr>
          <a:xfrm>
            <a:off x="7638625" y="3015425"/>
            <a:ext cx="4062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2"/>
                </a:solidFill>
              </a:rPr>
              <a:t>[1]</a:t>
            </a:r>
            <a:endParaRPr sz="1000">
              <a:solidFill>
                <a:schemeClr val="dk2"/>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pic>
        <p:nvPicPr>
          <p:cNvPr id="175" name="Google Shape;175;p28" title="Chart"/>
          <p:cNvPicPr preferRelativeResize="0"/>
          <p:nvPr/>
        </p:nvPicPr>
        <p:blipFill>
          <a:blip r:embed="rId4">
            <a:alphaModFix/>
          </a:blip>
          <a:stretch>
            <a:fillRect/>
          </a:stretch>
        </p:blipFill>
        <p:spPr>
          <a:xfrm>
            <a:off x="664963" y="225576"/>
            <a:ext cx="3638976" cy="2250100"/>
          </a:xfrm>
          <a:prstGeom prst="rect">
            <a:avLst/>
          </a:prstGeom>
          <a:noFill/>
          <a:ln>
            <a:noFill/>
          </a:ln>
        </p:spPr>
      </p:pic>
      <p:pic>
        <p:nvPicPr>
          <p:cNvPr id="176" name="Google Shape;176;p28" title="Chart"/>
          <p:cNvPicPr preferRelativeResize="0"/>
          <p:nvPr/>
        </p:nvPicPr>
        <p:blipFill>
          <a:blip r:embed="rId5">
            <a:alphaModFix/>
          </a:blip>
          <a:stretch>
            <a:fillRect/>
          </a:stretch>
        </p:blipFill>
        <p:spPr>
          <a:xfrm>
            <a:off x="4654250" y="259024"/>
            <a:ext cx="3530799" cy="2183200"/>
          </a:xfrm>
          <a:prstGeom prst="rect">
            <a:avLst/>
          </a:prstGeom>
          <a:noFill/>
          <a:ln>
            <a:noFill/>
          </a:ln>
        </p:spPr>
      </p:pic>
      <p:pic>
        <p:nvPicPr>
          <p:cNvPr id="177" name="Google Shape;177;p28" title="Chart"/>
          <p:cNvPicPr preferRelativeResize="0"/>
          <p:nvPr/>
        </p:nvPicPr>
        <p:blipFill>
          <a:blip r:embed="rId6">
            <a:alphaModFix/>
          </a:blip>
          <a:stretch>
            <a:fillRect/>
          </a:stretch>
        </p:blipFill>
        <p:spPr>
          <a:xfrm>
            <a:off x="780175" y="2437550"/>
            <a:ext cx="3392076" cy="2097424"/>
          </a:xfrm>
          <a:prstGeom prst="rect">
            <a:avLst/>
          </a:prstGeom>
          <a:noFill/>
          <a:ln>
            <a:noFill/>
          </a:ln>
        </p:spPr>
      </p:pic>
      <p:sp>
        <p:nvSpPr>
          <p:cNvPr id="178" name="Google Shape;178;p28"/>
          <p:cNvSpPr txBox="1"/>
          <p:nvPr>
            <p:ph idx="4294967295" type="subTitle"/>
          </p:nvPr>
        </p:nvSpPr>
        <p:spPr>
          <a:xfrm>
            <a:off x="4065000" y="4674650"/>
            <a:ext cx="1014000" cy="295500"/>
          </a:xfrm>
          <a:prstGeom prst="rect">
            <a:avLst/>
          </a:prstGeom>
        </p:spPr>
        <p:txBody>
          <a:bodyPr anchorCtr="0" anchor="t" bIns="91425" lIns="91425" spcFirstLastPara="1" rIns="91425" wrap="square" tIns="91425">
            <a:normAutofit fontScale="92500"/>
          </a:bodyPr>
          <a:lstStyle/>
          <a:p>
            <a:pPr indent="0" lvl="0" marL="0" rtl="0" algn="l">
              <a:lnSpc>
                <a:spcPct val="80000"/>
              </a:lnSpc>
              <a:spcBef>
                <a:spcPts val="0"/>
              </a:spcBef>
              <a:spcAft>
                <a:spcPts val="1200"/>
              </a:spcAft>
              <a:buSzPct val="95408"/>
              <a:buNone/>
            </a:pPr>
            <a:r>
              <a:rPr b="1" lang="en" sz="980"/>
              <a:t>Lower = Better</a:t>
            </a:r>
            <a:endParaRPr b="1" sz="980"/>
          </a:p>
        </p:txBody>
      </p:sp>
      <p:pic>
        <p:nvPicPr>
          <p:cNvPr id="179" name="Google Shape;179;p28" title="Chart"/>
          <p:cNvPicPr preferRelativeResize="0"/>
          <p:nvPr/>
        </p:nvPicPr>
        <p:blipFill>
          <a:blip r:embed="rId7">
            <a:alphaModFix/>
          </a:blip>
          <a:stretch>
            <a:fillRect/>
          </a:stretch>
        </p:blipFill>
        <p:spPr>
          <a:xfrm>
            <a:off x="4763997" y="2424975"/>
            <a:ext cx="3392076" cy="2097423"/>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Takeaways / lessons learned</a:t>
            </a:r>
            <a:endParaRPr/>
          </a:p>
        </p:txBody>
      </p:sp>
      <p:sp>
        <p:nvSpPr>
          <p:cNvPr id="185" name="Google Shape;185;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Dataset generation and the impacts on the result</a:t>
            </a:r>
            <a:endParaRPr/>
          </a:p>
          <a:p>
            <a:pPr indent="-342900" lvl="0" marL="457200" rtl="0" algn="l">
              <a:spcBef>
                <a:spcPts val="0"/>
              </a:spcBef>
              <a:spcAft>
                <a:spcPts val="0"/>
              </a:spcAft>
              <a:buSzPts val="1800"/>
              <a:buChar char="●"/>
            </a:pPr>
            <a:r>
              <a:rPr lang="en"/>
              <a:t>Define the scope and components very early.</a:t>
            </a:r>
            <a:endParaRPr/>
          </a:p>
          <a:p>
            <a:pPr indent="-342900" lvl="0" marL="457200" rtl="0" algn="l">
              <a:spcBef>
                <a:spcPts val="0"/>
              </a:spcBef>
              <a:spcAft>
                <a:spcPts val="0"/>
              </a:spcAft>
              <a:buSzPts val="1800"/>
              <a:buChar char="●"/>
            </a:pPr>
            <a:r>
              <a:rPr lang="en"/>
              <a:t>Do not reinvent the wheel. We ended up drawing solutions from PA1 and PA2.</a:t>
            </a:r>
            <a:endParaRPr/>
          </a:p>
          <a:p>
            <a:pPr indent="-342900" lvl="0" marL="457200" rtl="0" algn="l">
              <a:spcBef>
                <a:spcPts val="0"/>
              </a:spcBef>
              <a:spcAft>
                <a:spcPts val="0"/>
              </a:spcAft>
              <a:buSzPts val="1800"/>
              <a:buChar char="●"/>
            </a:pPr>
            <a:r>
              <a:rPr lang="en"/>
              <a:t>Have small test code every component easier to debug.</a:t>
            </a:r>
            <a:endParaRPr/>
          </a:p>
          <a:p>
            <a:pPr indent="0" lvl="0" marL="0" rtl="0" algn="l">
              <a:spcBef>
                <a:spcPts val="1200"/>
              </a:spcBef>
              <a:spcAft>
                <a:spcPts val="1200"/>
              </a:spcAft>
              <a:buNone/>
            </a:pPr>
            <a:r>
              <a:t/>
            </a:r>
            <a:endParaRPr/>
          </a:p>
        </p:txBody>
      </p:sp>
      <p:sp>
        <p:nvSpPr>
          <p:cNvPr id="186" name="Google Shape;186;p29"/>
          <p:cNvSpPr txBox="1"/>
          <p:nvPr>
            <p:ph idx="4294967295" type="subTitle"/>
          </p:nvPr>
        </p:nvSpPr>
        <p:spPr>
          <a:xfrm>
            <a:off x="4339550" y="4703625"/>
            <a:ext cx="7117800" cy="295500"/>
          </a:xfrm>
          <a:prstGeom prst="rect">
            <a:avLst/>
          </a:prstGeom>
        </p:spPr>
        <p:txBody>
          <a:bodyPr anchorCtr="0" anchor="t" bIns="91425" lIns="91425" spcFirstLastPara="1" rIns="91425" wrap="square" tIns="91425">
            <a:normAutofit lnSpcReduction="10000"/>
          </a:bodyPr>
          <a:lstStyle/>
          <a:p>
            <a:pPr indent="0" lvl="0" marL="0" rtl="0" algn="l">
              <a:lnSpc>
                <a:spcPct val="80000"/>
              </a:lnSpc>
              <a:spcBef>
                <a:spcPts val="0"/>
              </a:spcBef>
              <a:spcAft>
                <a:spcPts val="1200"/>
              </a:spcAft>
              <a:buSzPts val="935"/>
              <a:buNone/>
            </a:pPr>
            <a:r>
              <a:rPr lang="en" sz="980"/>
              <a:t>Fariba Amiri, Sumaiya Azad, Shreeda Ghatpande, Jacob Hopkins &amp; Andy Herbert</a:t>
            </a:r>
            <a:endParaRPr sz="98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Team Contributions</a:t>
            </a:r>
            <a:endParaRPr/>
          </a:p>
        </p:txBody>
      </p:sp>
      <p:sp>
        <p:nvSpPr>
          <p:cNvPr id="192" name="Google Shape;192;p3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Shreeda - Coordinator and FAISS</a:t>
            </a:r>
            <a:endParaRPr/>
          </a:p>
          <a:p>
            <a:pPr indent="0" lvl="0" marL="0" rtl="0" algn="l">
              <a:spcBef>
                <a:spcPts val="1200"/>
              </a:spcBef>
              <a:spcAft>
                <a:spcPts val="0"/>
              </a:spcAft>
              <a:buNone/>
            </a:pPr>
            <a:r>
              <a:rPr lang="en"/>
              <a:t>Fariba - Regional servers</a:t>
            </a:r>
            <a:endParaRPr/>
          </a:p>
          <a:p>
            <a:pPr indent="0" lvl="0" marL="0" rtl="0" algn="l">
              <a:spcBef>
                <a:spcPts val="1200"/>
              </a:spcBef>
              <a:spcAft>
                <a:spcPts val="0"/>
              </a:spcAft>
              <a:buNone/>
            </a:pPr>
            <a:r>
              <a:rPr lang="en"/>
              <a:t>Sumaiya - Benchmarking matchmaking and dataset generation</a:t>
            </a:r>
            <a:endParaRPr/>
          </a:p>
          <a:p>
            <a:pPr indent="0" lvl="0" marL="0" rtl="0" algn="l">
              <a:spcBef>
                <a:spcPts val="1200"/>
              </a:spcBef>
              <a:spcAft>
                <a:spcPts val="0"/>
              </a:spcAft>
              <a:buNone/>
            </a:pPr>
            <a:r>
              <a:rPr lang="en"/>
              <a:t>Jacob - Server and Benchmarking</a:t>
            </a:r>
            <a:endParaRPr/>
          </a:p>
          <a:p>
            <a:pPr indent="0" lvl="0" marL="0" rtl="0" algn="l">
              <a:spcBef>
                <a:spcPts val="1200"/>
              </a:spcBef>
              <a:spcAft>
                <a:spcPts val="1200"/>
              </a:spcAft>
              <a:buNone/>
            </a:pPr>
            <a:r>
              <a:rPr lang="en"/>
              <a:t>Andy - </a:t>
            </a:r>
            <a:r>
              <a:rPr lang="en"/>
              <a:t>Matchmaking</a:t>
            </a:r>
            <a:r>
              <a:rPr lang="en"/>
              <a:t> algorithm</a:t>
            </a:r>
            <a:endParaRPr/>
          </a:p>
        </p:txBody>
      </p:sp>
      <p:sp>
        <p:nvSpPr>
          <p:cNvPr id="193" name="Google Shape;193;p30"/>
          <p:cNvSpPr txBox="1"/>
          <p:nvPr>
            <p:ph idx="4294967295" type="subTitle"/>
          </p:nvPr>
        </p:nvSpPr>
        <p:spPr>
          <a:xfrm>
            <a:off x="4339550" y="4703625"/>
            <a:ext cx="7117800" cy="295500"/>
          </a:xfrm>
          <a:prstGeom prst="rect">
            <a:avLst/>
          </a:prstGeom>
        </p:spPr>
        <p:txBody>
          <a:bodyPr anchorCtr="0" anchor="t" bIns="91425" lIns="91425" spcFirstLastPara="1" rIns="91425" wrap="square" tIns="91425">
            <a:normAutofit lnSpcReduction="10000"/>
          </a:bodyPr>
          <a:lstStyle/>
          <a:p>
            <a:pPr indent="0" lvl="0" marL="0" rtl="0" algn="l">
              <a:lnSpc>
                <a:spcPct val="80000"/>
              </a:lnSpc>
              <a:spcBef>
                <a:spcPts val="0"/>
              </a:spcBef>
              <a:spcAft>
                <a:spcPts val="1200"/>
              </a:spcAft>
              <a:buSzPts val="935"/>
              <a:buNone/>
            </a:pPr>
            <a:r>
              <a:rPr lang="en" sz="980"/>
              <a:t>Fariba Amiri, Sumaiya Azad, Shreeda Ghatpande, Jacob Hopkins &amp; Andy Herbert</a:t>
            </a:r>
            <a:endParaRPr sz="98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31"/>
          <p:cNvSpPr txBox="1"/>
          <p:nvPr>
            <p:ph idx="4294967295" type="ctrTitle"/>
          </p:nvPr>
        </p:nvSpPr>
        <p:spPr>
          <a:xfrm>
            <a:off x="311708" y="744575"/>
            <a:ext cx="8520600" cy="205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sz="4700"/>
          </a:p>
          <a:p>
            <a:pPr indent="0" lvl="0" marL="0" rtl="0" algn="ctr">
              <a:spcBef>
                <a:spcPts val="0"/>
              </a:spcBef>
              <a:spcAft>
                <a:spcPts val="0"/>
              </a:spcAft>
              <a:buNone/>
            </a:pPr>
            <a:r>
              <a:rPr lang="en" sz="4700"/>
              <a:t>Q &amp; A</a:t>
            </a:r>
            <a:endParaRPr sz="47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Credits</a:t>
            </a:r>
            <a:endParaRPr/>
          </a:p>
        </p:txBody>
      </p:sp>
      <p:sp>
        <p:nvSpPr>
          <p:cNvPr id="204" name="Google Shape;204;p3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marR="76200" rtl="0" algn="r">
              <a:lnSpc>
                <a:spcPct val="135000"/>
              </a:lnSpc>
              <a:spcBef>
                <a:spcPts val="0"/>
              </a:spcBef>
              <a:spcAft>
                <a:spcPts val="0"/>
              </a:spcAft>
              <a:buClr>
                <a:schemeClr val="dk1"/>
              </a:buClr>
              <a:buSzPts val="1100"/>
              <a:buFont typeface="Arial"/>
              <a:buNone/>
            </a:pPr>
            <a:r>
              <a:rPr lang="en" sz="1100">
                <a:solidFill>
                  <a:schemeClr val="dk1"/>
                </a:solidFill>
              </a:rPr>
              <a:t>[1]</a:t>
            </a:r>
            <a:endParaRPr sz="1100">
              <a:solidFill>
                <a:schemeClr val="dk1"/>
              </a:solidFill>
            </a:endParaRPr>
          </a:p>
          <a:p>
            <a:pPr indent="0" lvl="0" marL="215900" marR="50800" rtl="0" algn="l">
              <a:lnSpc>
                <a:spcPct val="135000"/>
              </a:lnSpc>
              <a:spcBef>
                <a:spcPts val="0"/>
              </a:spcBef>
              <a:spcAft>
                <a:spcPts val="0"/>
              </a:spcAft>
              <a:buClr>
                <a:schemeClr val="dk1"/>
              </a:buClr>
              <a:buSzPts val="1100"/>
              <a:buFont typeface="Arial"/>
              <a:buNone/>
            </a:pPr>
            <a:r>
              <a:rPr lang="en" sz="1100">
                <a:solidFill>
                  <a:schemeClr val="dk1"/>
                </a:solidFill>
              </a:rPr>
              <a:t>“What Is A Z-Score And How To Calculate Them?” Accessed: Nov. 29, 2025. [Online]. Available: </a:t>
            </a:r>
            <a:r>
              <a:rPr lang="en" sz="1100" u="sng">
                <a:solidFill>
                  <a:schemeClr val="hlink"/>
                </a:solidFill>
                <a:hlinkClick r:id="rId3"/>
              </a:rPr>
              <a:t>https://toptipbio.com/z-score/</a:t>
            </a:r>
            <a:endParaRPr sz="1100" u="sng">
              <a:solidFill>
                <a:schemeClr val="hlink"/>
              </a:solidFill>
            </a:endParaRPr>
          </a:p>
          <a:p>
            <a:pPr indent="0" lvl="0" marL="0" marR="76200" rtl="0" algn="r">
              <a:lnSpc>
                <a:spcPct val="135000"/>
              </a:lnSpc>
              <a:spcBef>
                <a:spcPts val="0"/>
              </a:spcBef>
              <a:spcAft>
                <a:spcPts val="0"/>
              </a:spcAft>
              <a:buClr>
                <a:schemeClr val="dk1"/>
              </a:buClr>
              <a:buSzPts val="1100"/>
              <a:buFont typeface="Arial"/>
              <a:buNone/>
            </a:pPr>
            <a:r>
              <a:rPr lang="en" sz="1100">
                <a:solidFill>
                  <a:schemeClr val="dk1"/>
                </a:solidFill>
              </a:rPr>
              <a:t>[2]</a:t>
            </a:r>
            <a:endParaRPr sz="1100">
              <a:solidFill>
                <a:schemeClr val="dk1"/>
              </a:solidFill>
            </a:endParaRPr>
          </a:p>
          <a:p>
            <a:pPr indent="0" lvl="0" marL="215900" marR="50800" rtl="0" algn="l">
              <a:lnSpc>
                <a:spcPct val="135000"/>
              </a:lnSpc>
              <a:spcBef>
                <a:spcPts val="0"/>
              </a:spcBef>
              <a:spcAft>
                <a:spcPts val="0"/>
              </a:spcAft>
              <a:buClr>
                <a:schemeClr val="dk1"/>
              </a:buClr>
              <a:buSzPts val="1100"/>
              <a:buFont typeface="Arial"/>
              <a:buNone/>
            </a:pPr>
            <a:r>
              <a:rPr lang="en" sz="1100">
                <a:solidFill>
                  <a:schemeClr val="dk1"/>
                </a:solidFill>
              </a:rPr>
              <a:t>“World Map / World Atlas / Atlas of the World Including Geography Facts and Flags - WorldAtlas.com,” WorldAtlas. Accessed: Nov. 29, 2025. [Online]. Available: </a:t>
            </a:r>
            <a:r>
              <a:rPr lang="en" sz="1100" u="sng">
                <a:solidFill>
                  <a:schemeClr val="hlink"/>
                </a:solidFill>
                <a:hlinkClick r:id="rId4"/>
              </a:rPr>
              <a:t>https://www.worldatlas.com/</a:t>
            </a:r>
            <a:endParaRPr sz="1100" u="sng">
              <a:solidFill>
                <a:schemeClr val="hlink"/>
              </a:solidFill>
            </a:endParaRPr>
          </a:p>
          <a:p>
            <a:pPr indent="0" lvl="0" marL="0" rtl="0" algn="l">
              <a:spcBef>
                <a:spcPts val="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